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주제" id="{a91307c4-a0cd-0bd2-ee3a-d602ac9bf623}">
          <p14:sldIdLst>
            <p14:sldId id="256"/>
            <p14:sldId id="257"/>
            <p14:sldId id="258"/>
          </p14:sldIdLst>
        </p14:section>
        <p14:section name="개선·추가" id="{5013379d-eb9a-a977-3e32-386d0c671f94}">
          <p14:sldIdLst>
            <p14:sldId id="259"/>
            <p14:sldId id="260"/>
          </p14:sldIdLst>
        </p14:section>
        <p14:section name="기술 요소·구현" id="{f66659bf-68b2-a93e-db9c-3ffb3be73866}">
          <p14:sldIdLst>
            <p14:sldId id="261"/>
            <p14:sldId id="262"/>
            <p14:sldId id="263"/>
            <p14:sldId id="264"/>
            <p14:sldId id="265"/>
            <p14:sldId id="266"/>
            <p14:sldId id="267"/>
            <p14:sldId id="268"/>
            <p14:sldId id="269"/>
            <p14:sldId id="270"/>
          </p14:sldIdLst>
        </p14:section>
        <p14:section name="개선 전후 비교" id="{9f8ee2ea-2dda-5b41-04e9-de25b8ac0d49}">
          <p14:sldIdLst>
            <p14:sldId id="271"/>
            <p14:sldId id="272"/>
            <p14:sldId id="273"/>
            <p14:sldId id="274"/>
          </p14:sldIdLst>
        </p14:section>
        <p14:section name="한계·트레이드오프" id="{9fd3ba1a-04b2-6779-c576-e32fbfe94d52}">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[7초 · 누적 0:07] 안녕하세요, 박현민입니다. Base AI Agent를 개선한 OpsCheck를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 누적 0:27] OpsCheck는 서비스 이름과 증상을 말하면, MCP로 모니터링 상태와 대응 매뉴얼을 조회해 진단 보고서를 만드는 에이전트입니다. 운영 진단에서 가장 위험한 건 그럴듯한 오답이라고 보고, 근거로 확인된 것만 답하도록 개선했습니다.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 누적 0:49] 먼저 개선 전 원본을 실제 OpenAI와 MCP로 실행했습니다. payments와 cache를 함께 물어도 매뉴얼은 CPU 하나만 읽어 메모리 누수 매뉴얼이 빠졌고, 후속 질문은 새로 조회하지 않고 이전 수치를 그대로 썼습니다. 검수는 30자 이상에 '1)'만 있으면 통과였습니다.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[27초 · 누적 1:16] 이를 기준으로 다섯 가지를 개선했습니다. 요청 대상이 빠지거나 벗어나면 보정하고, 불분명하면 되묻습니다. 관측과 알림에 따라 서비스별로 매뉴얼을 고릅니다. 답변의 수치·출처·조치 조건을 근거와 대조합니다. 조회 하나가 실패해도 나머지는 지키고 실제 진행 상태를 보냅니다. 후속 질문은 이전 대상과 잇습니다.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[8초 · 누적 1:24] 추가 기능은 근거 보고서, 전체 조사 이력, 이전·현재 상태 비교, Markdown 내보내기입니다.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 누적 1:44] 전체 흐름입니다. 대상이 불분명하면 조사 전에 확인을 요청합니다. 계획을 요청과 대조한 뒤 서비스별로 조회하고, 초안은 근거 검증을 거칩니다. 반려되면 한 번만 다시 쓰고, 또 실패하면 '검증 미통과'로 확인된 근거만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[17초 · 누적 2:01] 기술 요소입니다. Multi-Agent는 Supervisor 그래프의 역할 노드로, MCP는 Tool·Resource·Prompt로 구현했습니다. 의존성 주입으로 모델·MCP·DB를 대역으로 바꿔 테스트했고, RAG는 적용하지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[11초 · 누적 2:12] 이제 실제 화면입니다. 대상이 불분명하면 등록 서비스 목록과 함께 되묻고, 미등록 서비스는 다른 서비스로 바꿔 조사하지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[11초 · 누적 2:23] 두 서비스를 요청하면 진행 상태가 실제 순서대로 표시되고, payments에는 CPU, cache에는 메모리 누수 매뉴얼이 각각 출처로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[13초 · 누적 2:36] 관측값과 다른 수치를 쓴 초안은 사유와 함께 반려하고, 한 번 다시 써서 통과했습니다. 오른쪽은 cache 조회 실패를 넣은 결과로, payments 결과는 유지됐습니다.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[7초 · 누적 2:43] 새로고침해도 대화가 복원되고, '그 서비스'를 payments로 이어 새로 조회합니다.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[13초 · 누적 2:56] 보고서는 관측값, 분석, 권장 조치, 미확인 사항, 출처의 다섯 영역입니다. 이전보다 CPU가 내려가도 알림이 남으면 복구로 단정하지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[6초 · 누적 3:02] 새 대화에서도 이전 조사를 다시 열고, Markdown으로 내려받을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[11초 · 누적 3:13] LangSmith로 요청부터 모델과 MCP 호출까지 실행 경로를 확인했고, Python 테스트 130개와 정답 검증셋 35개를 통과했습니다.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[6초 · 누적 3:19] 실제 OpenAI와 MCP로 실행한 최종 화면이며, 검증을 통과했습니다.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[24초 · 누적 3:43] 같은 질문을 개선 전후 실제로 실행해 요청 시간을 쟀습니다. 단일은 5.5초에서 3.26초, 복수는 6.63초에서 6.01초였습니다. 다만 개선 전에는 원본의 의도적 재시도가 섞여 있고 각 1회라, 속도 개선으로 해석하지 않습니다. 후속 질문은 오히려 느려졌는데, 개선 전에는 조회를 건너뛰었기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[3초 · 누적 3:46] 그 근거가 된 추적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 누적 4:01] 모델 변동을 빼려고 고정 조건으로도 비교했습니다. 대상 계획 일치는 7건 중 1건에서 7건, 매뉴얼은 15건 중 11건에서 15건이 됐고, 틀린 초안 7개를 모두 막았습니다.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[7초 · 누적 4:08] cache가 빠진 계획에서 원본은 payments만, 개선판은 두 서비스를 모두 조사했습니다.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[23초 · 누적 4:31] 한계도 있습니다. auth 복합 증상에서 모델이 CPU 조치를 빠뜨렸고 검증기가 막았습니다. 틀린 답은 막았지만 진단은 완성하지 못했습니다. 재조회로 후속 질문은 느려졌고, 규칙 기반 선택은 새 표현에 약합니다. 다음에는 필수 조치 쌍을 작성 입력에 명시하겠습니다.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[3초 · 누적 4:34] 이상입니다.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291840"/>
            <a:ext cx="5852160" cy="914400"/>
          </a:xfrm>
          <a:prstGeom prst="rect">
            <a:avLst/>
          </a:prstGeom>
          <a:noFill/>
          <a:ln/>
        </p:spPr>
        <p:txBody>
          <a:bodyPr wrap="square" rtlCol="0"/>
          <a:lstStyle>
            <a:lvl1pPr algn="l" indent="0" marL="0">
              <a:buNone/>
              <a:defRPr lang="en-US" sz="2200" dirty="0">
                <a:solidFill>
                  <a:srgbClr val="CADCF5"/>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10515600" cy="9144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822960" y="3657600"/>
            <a:ext cx="10515600" cy="548640"/>
          </a:xfrm>
          <a:prstGeom prst="rect">
            <a:avLst/>
          </a:prstGeom>
          <a:noFill/>
          <a:ln/>
        </p:spPr>
        <p:txBody>
          <a:bodyPr wrap="square" rtlCol="0"/>
          <a:lstStyle>
            <a:lvl1pPr indent="0" marL="0">
              <a:buNone/>
              <a:defRPr lang="en-US" sz="1800" dirty="0">
                <a:solidFill>
                  <a:srgbClr val="CADCF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A0C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 Id="rId9" Type="http://schemas.openxmlformats.org/officeDocument/2006/relationships/image" Target="../media/image-10-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188720"/>
          </a:xfrm>
          <a:prstGeom prst="rect">
            <a:avLst/>
          </a:prstGeom>
          <a:noFill/>
          <a:ln/>
        </p:spPr>
        <p:txBody>
          <a:bodyPr wrap="square" lIns="0" tIns="0" rIns="0" bIns="0" rtlCol="0" anchor="b"/>
          <a:lstStyle/>
          <a:p>
            <a:pPr algn="l" indent="0" marL="0">
              <a:buNone/>
            </a:pPr>
            <a:r>
              <a:rPr lang="en-US" sz="5400" b="1" dirty="0">
                <a:solidFill>
                  <a:schemeClr val="bg1"/>
                </a:solidFill>
              </a:rPr>
              <a:t>OpsCheck</a:t>
            </a:r>
            <a:endParaRPr lang="en-US" sz="5400" dirty="0"/>
          </a:p>
        </p:txBody>
      </p:sp>
      <p:sp>
        <p:nvSpPr>
          <p:cNvPr id="3" name="Text 0"/>
          <p:cNvSpPr/>
          <p:nvPr>
            <p:ph idx="101" type="body" hasCustomPrompt="1"/>
          </p:nvPr>
        </p:nvSpPr>
        <p:spPr>
          <a:xfrm>
            <a:off x="640080" y="3291840"/>
            <a:ext cx="5852160" cy="914400"/>
          </a:xfrm>
          <a:prstGeom prst="rect">
            <a:avLst/>
          </a:prstGeom>
          <a:noFill/>
          <a:ln/>
        </p:spPr>
        <p:txBody>
          <a:bodyPr wrap="square" lIns="0" tIns="0" rIns="0" bIns="0" rtlCol="0" anchor="t"/>
          <a:lstStyle/>
          <a:p>
            <a:pPr algn="l" indent="0" marL="0">
              <a:buNone/>
            </a:pPr>
            <a:r>
              <a:rPr lang="en-US" sz="2200" dirty="0">
                <a:solidFill>
                  <a:srgbClr val="CADCF5"/>
                </a:solidFill>
              </a:rPr>
              <a:t>근거를 확인하는 운영 장애 진단 에이전트</a:t>
            </a:r>
            <a:endParaRPr lang="en-US" sz="2200" dirty="0"/>
          </a:p>
        </p:txBody>
      </p:sp>
      <p:sp>
        <p:nvSpPr>
          <p:cNvPr id="4" name="txt-1"/>
          <p:cNvSpPr txBox="1"/>
          <p:nvPr/>
        </p:nvSpPr>
        <p:spPr>
          <a:xfrm>
            <a:off x="640080" y="5120640"/>
            <a:ext cx="5852160" cy="731520"/>
          </a:xfrm>
          <a:prstGeom prst="rect">
            <a:avLst/>
          </a:prstGeom>
          <a:noFill/>
          <a:ln/>
        </p:spPr>
        <p:txBody>
          <a:bodyPr wrap="square" lIns="0" tIns="0" rIns="0" bIns="0" rtlCol="0" anchor="t"/>
          <a:lstStyle/>
          <a:p>
            <a:pPr indent="0" marL="0">
              <a:buNone/>
            </a:pPr>
            <a:r>
              <a:rPr lang="en-US" sz="1500" dirty="0">
                <a:solidFill>
                  <a:srgbClr val="8EA0C2"/>
                </a:solidFill>
              </a:rPr>
              <a:t>AI Mini-Project  ·  과제 1번 Base AI Agent 개선/추가</a:t>
            </a:r>
            <a:endParaRPr lang="en-US" sz="1500" dirty="0"/>
          </a:p>
          <a:p>
            <a:pPr indent="0" marL="0">
              <a:buNone/>
            </a:pPr>
            <a:r>
              <a:rPr lang="en-US" sz="1500" dirty="0">
                <a:solidFill>
                  <a:srgbClr val="8EA0C2"/>
                </a:solidFill>
              </a:rPr>
              <a:t>박현민  ·  2026. 10. 22</a:t>
            </a:r>
            <a:endParaRPr lang="en-US" sz="1500" dirty="0"/>
          </a:p>
        </p:txBody>
      </p:sp>
      <p:sp>
        <p:nvSpPr>
          <p:cNvPr id="5" name="frame-home-2"/>
          <p:cNvSpPr/>
          <p:nvPr/>
        </p:nvSpPr>
        <p:spPr>
          <a:xfrm>
            <a:off x="7095744" y="1198817"/>
            <a:ext cx="4553712" cy="4460367"/>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6" name="shot-home-3" descr="OpsCheck 시작 화면">    </p:cNvPr>
          <p:cNvPicPr>
            <a:picLocks noChangeAspect="1"/>
          </p:cNvPicPr>
          <p:nvPr/>
        </p:nvPicPr>
        <p:blipFill>
          <a:blip r:embed="rId1"/>
          <a:stretch>
            <a:fillRect/>
          </a:stretch>
        </p:blipFill>
        <p:spPr>
          <a:xfrm>
            <a:off x="7132320" y="1235393"/>
            <a:ext cx="4480560" cy="43872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서비스 증상을 말하면, 근거로 진단합니다</a:t>
            </a:r>
            <a:endParaRPr lang="en-US" sz="2800" dirty="0"/>
          </a:p>
        </p:txBody>
      </p:sp>
      <p:sp>
        <p:nvSpPr>
          <p:cNvPr id="3" name="icon-bg-4"/>
          <p:cNvSpPr/>
          <p:nvPr/>
        </p:nvSpPr>
        <p:spPr>
          <a:xfrm>
            <a:off x="822960" y="1600200"/>
            <a:ext cx="868680" cy="868680"/>
          </a:xfrm>
          <a:prstGeom prst="ellipse">
            <a:avLst/>
          </a:prstGeom>
          <a:solidFill>
            <a:schemeClr val="tx1"/>
          </a:solidFill>
          <a:ln/>
        </p:spPr>
      </p:sp>
      <p:pic>
        <p:nvPicPr>
          <p:cNvPr id="4" name="icon-5" descr="preencoded.png">    </p:cNvPr>
          <p:cNvPicPr>
            <a:picLocks noChangeAspect="1"/>
          </p:cNvPicPr>
          <p:nvPr/>
        </p:nvPicPr>
        <p:blipFill>
          <a:blip r:embed="rId1"/>
          <a:stretch>
            <a:fillRect/>
          </a:stretch>
        </p:blipFill>
        <p:spPr>
          <a:xfrm>
            <a:off x="1048817" y="1826057"/>
            <a:ext cx="416966" cy="416966"/>
          </a:xfrm>
          <a:prstGeom prst="rect">
            <a:avLst/>
          </a:prstGeom>
        </p:spPr>
      </p:pic>
      <p:sp>
        <p:nvSpPr>
          <p:cNvPr id="5" name="txt-6"/>
          <p:cNvSpPr txBox="1"/>
          <p:nvPr/>
        </p:nvSpPr>
        <p:spPr>
          <a:xfrm>
            <a:off x="548640" y="2606040"/>
            <a:ext cx="1417320" cy="365760"/>
          </a:xfrm>
          <a:prstGeom prst="rect">
            <a:avLst/>
          </a:prstGeom>
          <a:noFill/>
          <a:ln/>
        </p:spPr>
        <p:txBody>
          <a:bodyPr wrap="square" lIns="0" tIns="0" rIns="0" bIns="0" rtlCol="0" anchor="t"/>
          <a:lstStyle/>
          <a:p>
            <a:pPr algn="ctr" indent="0" marL="0">
              <a:buNone/>
            </a:pPr>
            <a:r>
              <a:rPr lang="en-US" sz="1800" b="1" dirty="0">
                <a:solidFill>
                  <a:schemeClr val="tx1"/>
                </a:solidFill>
              </a:rPr>
              <a:t>질문</a:t>
            </a:r>
            <a:endParaRPr lang="en-US" sz="1800" dirty="0"/>
          </a:p>
        </p:txBody>
      </p:sp>
      <p:sp>
        <p:nvSpPr>
          <p:cNvPr id="6" name="txt-7"/>
          <p:cNvSpPr txBox="1"/>
          <p:nvPr/>
        </p:nvSpPr>
        <p:spPr>
          <a:xfrm>
            <a:off x="548640" y="3017520"/>
            <a:ext cx="1417320" cy="685800"/>
          </a:xfrm>
          <a:prstGeom prst="rect">
            <a:avLst/>
          </a:prstGeom>
          <a:noFill/>
          <a:ln/>
        </p:spPr>
        <p:txBody>
          <a:bodyPr wrap="square" lIns="0" tIns="0" rIns="0" bIns="0" rtlCol="0" anchor="t"/>
          <a:lstStyle/>
          <a:p>
            <a:pPr algn="ctr" indent="0" marL="0">
              <a:buNone/>
            </a:pPr>
            <a:r>
              <a:rPr lang="en-US" sz="1300" dirty="0">
                <a:solidFill>
                  <a:schemeClr val="tx2"/>
                </a:solidFill>
              </a:rPr>
              <a:t>서비스 이름 + 증상</a:t>
            </a:r>
            <a:endParaRPr lang="en-US" sz="1300" dirty="0"/>
          </a:p>
        </p:txBody>
      </p:sp>
      <p:sp>
        <p:nvSpPr>
          <p:cNvPr id="7" name="arrow-8"/>
          <p:cNvSpPr/>
          <p:nvPr/>
        </p:nvSpPr>
        <p:spPr>
          <a:xfrm>
            <a:off x="2020824" y="1920240"/>
            <a:ext cx="274320" cy="228600"/>
          </a:xfrm>
          <a:prstGeom prst="rightArrow">
            <a:avLst/>
          </a:prstGeom>
          <a:solidFill>
            <a:schemeClr val="accent5"/>
          </a:solidFill>
          <a:ln/>
        </p:spPr>
      </p:sp>
      <p:sp>
        <p:nvSpPr>
          <p:cNvPr id="8" name="icon-bg-9"/>
          <p:cNvSpPr/>
          <p:nvPr/>
        </p:nvSpPr>
        <p:spPr>
          <a:xfrm>
            <a:off x="2624328" y="1600200"/>
            <a:ext cx="868680" cy="868680"/>
          </a:xfrm>
          <a:prstGeom prst="ellipse">
            <a:avLst/>
          </a:prstGeom>
          <a:solidFill>
            <a:schemeClr val="tx1"/>
          </a:solidFill>
          <a:ln/>
        </p:spPr>
      </p:sp>
      <p:pic>
        <p:nvPicPr>
          <p:cNvPr id="9" name="icon-10" descr="preencoded.png">    </p:cNvPr>
          <p:cNvPicPr>
            <a:picLocks noChangeAspect="1"/>
          </p:cNvPicPr>
          <p:nvPr/>
        </p:nvPicPr>
        <p:blipFill>
          <a:blip r:embed="rId2"/>
          <a:stretch>
            <a:fillRect/>
          </a:stretch>
        </p:blipFill>
        <p:spPr>
          <a:xfrm>
            <a:off x="2850185" y="1826057"/>
            <a:ext cx="416966" cy="416966"/>
          </a:xfrm>
          <a:prstGeom prst="rect">
            <a:avLst/>
          </a:prstGeom>
        </p:spPr>
      </p:pic>
      <p:sp>
        <p:nvSpPr>
          <p:cNvPr id="10" name="txt-11"/>
          <p:cNvSpPr txBox="1"/>
          <p:nvPr/>
        </p:nvSpPr>
        <p:spPr>
          <a:xfrm>
            <a:off x="2350008" y="2606040"/>
            <a:ext cx="1417320" cy="365760"/>
          </a:xfrm>
          <a:prstGeom prst="rect">
            <a:avLst/>
          </a:prstGeom>
          <a:noFill/>
          <a:ln/>
        </p:spPr>
        <p:txBody>
          <a:bodyPr wrap="square" lIns="0" tIns="0" rIns="0" bIns="0" rtlCol="0" anchor="t"/>
          <a:lstStyle/>
          <a:p>
            <a:pPr algn="ctr" indent="0" marL="0">
              <a:buNone/>
            </a:pPr>
            <a:r>
              <a:rPr lang="en-US" sz="1800" b="1" dirty="0">
                <a:solidFill>
                  <a:schemeClr val="tx1"/>
                </a:solidFill>
              </a:rPr>
              <a:t>조사</a:t>
            </a:r>
            <a:endParaRPr lang="en-US" sz="1800" dirty="0"/>
          </a:p>
        </p:txBody>
      </p:sp>
      <p:sp>
        <p:nvSpPr>
          <p:cNvPr id="11" name="txt-12"/>
          <p:cNvSpPr txBox="1"/>
          <p:nvPr/>
        </p:nvSpPr>
        <p:spPr>
          <a:xfrm>
            <a:off x="2350008" y="3017520"/>
            <a:ext cx="1417320" cy="685800"/>
          </a:xfrm>
          <a:prstGeom prst="rect">
            <a:avLst/>
          </a:prstGeom>
          <a:noFill/>
          <a:ln/>
        </p:spPr>
        <p:txBody>
          <a:bodyPr wrap="square" lIns="0" tIns="0" rIns="0" bIns="0" rtlCol="0" anchor="t"/>
          <a:lstStyle/>
          <a:p>
            <a:pPr algn="ctr" indent="0" marL="0">
              <a:buNone/>
            </a:pPr>
            <a:r>
              <a:rPr lang="en-US" sz="1300" dirty="0">
                <a:solidFill>
                  <a:schemeClr val="tx2"/>
                </a:solidFill>
              </a:rPr>
              <a:t>MCP 상태 조회</a:t>
            </a:r>
            <a:endParaRPr lang="en-US" sz="1300" dirty="0"/>
          </a:p>
          <a:p>
            <a:pPr algn="ctr" indent="0" marL="0">
              <a:buNone/>
            </a:pPr>
            <a:r>
              <a:rPr lang="en-US" sz="1300" dirty="0">
                <a:solidFill>
                  <a:schemeClr val="tx2"/>
                </a:solidFill>
              </a:rPr>
              <a:t>+ 대응 매뉴얼</a:t>
            </a:r>
            <a:endParaRPr lang="en-US" sz="1300" dirty="0"/>
          </a:p>
        </p:txBody>
      </p:sp>
      <p:sp>
        <p:nvSpPr>
          <p:cNvPr id="12" name="arrow-13"/>
          <p:cNvSpPr/>
          <p:nvPr/>
        </p:nvSpPr>
        <p:spPr>
          <a:xfrm>
            <a:off x="3822192" y="1920240"/>
            <a:ext cx="274320" cy="228600"/>
          </a:xfrm>
          <a:prstGeom prst="rightArrow">
            <a:avLst/>
          </a:prstGeom>
          <a:solidFill>
            <a:schemeClr val="accent5"/>
          </a:solidFill>
          <a:ln/>
        </p:spPr>
      </p:sp>
      <p:sp>
        <p:nvSpPr>
          <p:cNvPr id="13" name="icon-bg-14"/>
          <p:cNvSpPr/>
          <p:nvPr/>
        </p:nvSpPr>
        <p:spPr>
          <a:xfrm>
            <a:off x="4425696" y="1600200"/>
            <a:ext cx="868680" cy="868680"/>
          </a:xfrm>
          <a:prstGeom prst="ellipse">
            <a:avLst/>
          </a:prstGeom>
          <a:solidFill>
            <a:schemeClr val="accent1"/>
          </a:solidFill>
          <a:ln/>
        </p:spPr>
      </p:sp>
      <p:pic>
        <p:nvPicPr>
          <p:cNvPr id="14" name="icon-15" descr="preencoded.png">    </p:cNvPr>
          <p:cNvPicPr>
            <a:picLocks noChangeAspect="1"/>
          </p:cNvPicPr>
          <p:nvPr/>
        </p:nvPicPr>
        <p:blipFill>
          <a:blip r:embed="rId3"/>
          <a:stretch>
            <a:fillRect/>
          </a:stretch>
        </p:blipFill>
        <p:spPr>
          <a:xfrm>
            <a:off x="4651553" y="1826057"/>
            <a:ext cx="416966" cy="416966"/>
          </a:xfrm>
          <a:prstGeom prst="rect">
            <a:avLst/>
          </a:prstGeom>
        </p:spPr>
      </p:pic>
      <p:sp>
        <p:nvSpPr>
          <p:cNvPr id="15" name="txt-16"/>
          <p:cNvSpPr txBox="1"/>
          <p:nvPr/>
        </p:nvSpPr>
        <p:spPr>
          <a:xfrm>
            <a:off x="4151376" y="2606040"/>
            <a:ext cx="1417320" cy="365760"/>
          </a:xfrm>
          <a:prstGeom prst="rect">
            <a:avLst/>
          </a:prstGeom>
          <a:noFill/>
          <a:ln/>
        </p:spPr>
        <p:txBody>
          <a:bodyPr wrap="square" lIns="0" tIns="0" rIns="0" bIns="0" rtlCol="0" anchor="t"/>
          <a:lstStyle/>
          <a:p>
            <a:pPr algn="ctr" indent="0" marL="0">
              <a:buNone/>
            </a:pPr>
            <a:r>
              <a:rPr lang="en-US" sz="1800" b="1" dirty="0">
                <a:solidFill>
                  <a:schemeClr val="tx1"/>
                </a:solidFill>
              </a:rPr>
              <a:t>검증</a:t>
            </a:r>
            <a:endParaRPr lang="en-US" sz="1800" dirty="0"/>
          </a:p>
        </p:txBody>
      </p:sp>
      <p:sp>
        <p:nvSpPr>
          <p:cNvPr id="16" name="txt-17"/>
          <p:cNvSpPr txBox="1"/>
          <p:nvPr/>
        </p:nvSpPr>
        <p:spPr>
          <a:xfrm>
            <a:off x="4151376" y="3017520"/>
            <a:ext cx="1417320" cy="685800"/>
          </a:xfrm>
          <a:prstGeom prst="rect">
            <a:avLst/>
          </a:prstGeom>
          <a:noFill/>
          <a:ln/>
        </p:spPr>
        <p:txBody>
          <a:bodyPr wrap="square" lIns="0" tIns="0" rIns="0" bIns="0" rtlCol="0" anchor="t"/>
          <a:lstStyle/>
          <a:p>
            <a:pPr algn="ctr" indent="0" marL="0">
              <a:buNone/>
            </a:pPr>
            <a:r>
              <a:rPr lang="en-US" sz="1300" dirty="0">
                <a:solidFill>
                  <a:schemeClr val="tx2"/>
                </a:solidFill>
              </a:rPr>
              <a:t>수치·출처·조치 조건</a:t>
            </a:r>
            <a:endParaRPr lang="en-US" sz="1300" dirty="0"/>
          </a:p>
          <a:p>
            <a:pPr algn="ctr" indent="0" marL="0">
              <a:buNone/>
            </a:pPr>
            <a:r>
              <a:rPr lang="en-US" sz="1300" dirty="0">
                <a:solidFill>
                  <a:schemeClr val="tx2"/>
                </a:solidFill>
              </a:rPr>
              <a:t>대조</a:t>
            </a:r>
            <a:endParaRPr lang="en-US" sz="1300" dirty="0"/>
          </a:p>
        </p:txBody>
      </p:sp>
      <p:sp>
        <p:nvSpPr>
          <p:cNvPr id="17" name="arrow-18"/>
          <p:cNvSpPr/>
          <p:nvPr/>
        </p:nvSpPr>
        <p:spPr>
          <a:xfrm>
            <a:off x="5623560" y="1920240"/>
            <a:ext cx="274320" cy="228600"/>
          </a:xfrm>
          <a:prstGeom prst="rightArrow">
            <a:avLst/>
          </a:prstGeom>
          <a:solidFill>
            <a:schemeClr val="accent5"/>
          </a:solidFill>
          <a:ln/>
        </p:spPr>
      </p:sp>
      <p:sp>
        <p:nvSpPr>
          <p:cNvPr id="18" name="icon-bg-19"/>
          <p:cNvSpPr/>
          <p:nvPr/>
        </p:nvSpPr>
        <p:spPr>
          <a:xfrm>
            <a:off x="6227064" y="1600200"/>
            <a:ext cx="868680" cy="868680"/>
          </a:xfrm>
          <a:prstGeom prst="ellipse">
            <a:avLst/>
          </a:prstGeom>
          <a:solidFill>
            <a:schemeClr val="tx1"/>
          </a:solidFill>
          <a:ln/>
        </p:spPr>
      </p:sp>
      <p:pic>
        <p:nvPicPr>
          <p:cNvPr id="19" name="icon-20" descr="preencoded.png">    </p:cNvPr>
          <p:cNvPicPr>
            <a:picLocks noChangeAspect="1"/>
          </p:cNvPicPr>
          <p:nvPr/>
        </p:nvPicPr>
        <p:blipFill>
          <a:blip r:embed="rId4"/>
          <a:stretch>
            <a:fillRect/>
          </a:stretch>
        </p:blipFill>
        <p:spPr>
          <a:xfrm>
            <a:off x="6452921" y="1826057"/>
            <a:ext cx="416966" cy="416966"/>
          </a:xfrm>
          <a:prstGeom prst="rect">
            <a:avLst/>
          </a:prstGeom>
        </p:spPr>
      </p:pic>
      <p:sp>
        <p:nvSpPr>
          <p:cNvPr id="20" name="txt-21"/>
          <p:cNvSpPr txBox="1"/>
          <p:nvPr/>
        </p:nvSpPr>
        <p:spPr>
          <a:xfrm>
            <a:off x="5952744" y="2606040"/>
            <a:ext cx="1417320" cy="365760"/>
          </a:xfrm>
          <a:prstGeom prst="rect">
            <a:avLst/>
          </a:prstGeom>
          <a:noFill/>
          <a:ln/>
        </p:spPr>
        <p:txBody>
          <a:bodyPr wrap="square" lIns="0" tIns="0" rIns="0" bIns="0" rtlCol="0" anchor="t"/>
          <a:lstStyle/>
          <a:p>
            <a:pPr algn="ctr" indent="0" marL="0">
              <a:buNone/>
            </a:pPr>
            <a:r>
              <a:rPr lang="en-US" sz="1800" b="1" dirty="0">
                <a:solidFill>
                  <a:schemeClr val="tx1"/>
                </a:solidFill>
              </a:rPr>
              <a:t>보고서</a:t>
            </a:r>
            <a:endParaRPr lang="en-US" sz="1800" dirty="0"/>
          </a:p>
        </p:txBody>
      </p:sp>
      <p:sp>
        <p:nvSpPr>
          <p:cNvPr id="21" name="txt-22"/>
          <p:cNvSpPr txBox="1"/>
          <p:nvPr/>
        </p:nvSpPr>
        <p:spPr>
          <a:xfrm>
            <a:off x="5952744" y="3017520"/>
            <a:ext cx="1417320" cy="685800"/>
          </a:xfrm>
          <a:prstGeom prst="rect">
            <a:avLst/>
          </a:prstGeom>
          <a:noFill/>
          <a:ln/>
        </p:spPr>
        <p:txBody>
          <a:bodyPr wrap="square" lIns="0" tIns="0" rIns="0" bIns="0" rtlCol="0" anchor="t"/>
          <a:lstStyle/>
          <a:p>
            <a:pPr algn="ctr" indent="0" marL="0">
              <a:buNone/>
            </a:pPr>
            <a:r>
              <a:rPr lang="en-US" sz="1300" dirty="0">
                <a:solidFill>
                  <a:schemeClr val="tx2"/>
                </a:solidFill>
              </a:rPr>
              <a:t>5개 영역 +</a:t>
            </a:r>
            <a:endParaRPr lang="en-US" sz="1300" dirty="0"/>
          </a:p>
          <a:p>
            <a:pPr algn="ctr" indent="0" marL="0">
              <a:buNone/>
            </a:pPr>
            <a:r>
              <a:rPr lang="en-US" sz="1300" dirty="0">
                <a:solidFill>
                  <a:schemeClr val="tx2"/>
                </a:solidFill>
              </a:rPr>
              <a:t>검증 상태 표시</a:t>
            </a:r>
            <a:endParaRPr lang="en-US" sz="1300" dirty="0"/>
          </a:p>
        </p:txBody>
      </p:sp>
      <p:sp>
        <p:nvSpPr>
          <p:cNvPr id="22" name="fact-23"/>
          <p:cNvSpPr/>
          <p:nvPr/>
        </p:nvSpPr>
        <p:spPr>
          <a:xfrm>
            <a:off x="548640" y="4297680"/>
            <a:ext cx="6949440" cy="457200"/>
          </a:xfrm>
          <a:prstGeom prst="roundRect">
            <a:avLst>
              <a:gd name="adj" fmla="val 16000"/>
            </a:avLst>
          </a:prstGeom>
          <a:solidFill>
            <a:schemeClr val="bg2"/>
          </a:solidFill>
          <a:ln/>
        </p:spPr>
      </p:sp>
      <p:sp>
        <p:nvSpPr>
          <p:cNvPr id="23" name="txt-24"/>
          <p:cNvSpPr txBox="1"/>
          <p:nvPr/>
        </p:nvSpPr>
        <p:spPr>
          <a:xfrm>
            <a:off x="731520" y="4297680"/>
            <a:ext cx="822960" cy="457200"/>
          </a:xfrm>
          <a:prstGeom prst="rect">
            <a:avLst/>
          </a:prstGeom>
          <a:noFill/>
          <a:ln/>
        </p:spPr>
        <p:txBody>
          <a:bodyPr wrap="square" lIns="0" tIns="0" rIns="0" bIns="0" rtlCol="0" anchor="ctr"/>
          <a:lstStyle/>
          <a:p>
            <a:pPr indent="0" marL="0">
              <a:buNone/>
            </a:pPr>
            <a:r>
              <a:rPr lang="en-US" sz="1400" b="1" dirty="0">
                <a:solidFill>
                  <a:schemeClr val="accent1"/>
                </a:solidFill>
              </a:rPr>
              <a:t>기반</a:t>
            </a:r>
            <a:endParaRPr lang="en-US" sz="1400" dirty="0"/>
          </a:p>
        </p:txBody>
      </p:sp>
      <p:sp>
        <p:nvSpPr>
          <p:cNvPr id="24" name="txt-25"/>
          <p:cNvSpPr txBox="1"/>
          <p:nvPr/>
        </p:nvSpPr>
        <p:spPr>
          <a:xfrm>
            <a:off x="1554480" y="4297680"/>
            <a:ext cx="5852160" cy="457200"/>
          </a:xfrm>
          <a:prstGeom prst="rect">
            <a:avLst/>
          </a:prstGeom>
          <a:noFill/>
          <a:ln/>
        </p:spPr>
        <p:txBody>
          <a:bodyPr wrap="square" lIns="0" tIns="0" rIns="0" bIns="0" rtlCol="0" anchor="ctr"/>
          <a:lstStyle/>
          <a:p>
            <a:pPr indent="0" marL="0">
              <a:buNone/>
            </a:pPr>
            <a:r>
              <a:rPr lang="en-US" sz="1400" dirty="0">
                <a:solidFill>
                  <a:schemeClr val="tx1"/>
                </a:solidFill>
              </a:rPr>
              <a:t>수업 Base AI Agent (FastAPI · LangGraph · MCP · SSE)</a:t>
            </a:r>
            <a:endParaRPr lang="en-US" sz="1400" dirty="0"/>
          </a:p>
        </p:txBody>
      </p:sp>
      <p:sp>
        <p:nvSpPr>
          <p:cNvPr id="25" name="fact-26"/>
          <p:cNvSpPr/>
          <p:nvPr/>
        </p:nvSpPr>
        <p:spPr>
          <a:xfrm>
            <a:off x="548640" y="4864608"/>
            <a:ext cx="6949440" cy="457200"/>
          </a:xfrm>
          <a:prstGeom prst="roundRect">
            <a:avLst>
              <a:gd name="adj" fmla="val 16000"/>
            </a:avLst>
          </a:prstGeom>
          <a:solidFill>
            <a:schemeClr val="bg2"/>
          </a:solidFill>
          <a:ln/>
        </p:spPr>
      </p:sp>
      <p:sp>
        <p:nvSpPr>
          <p:cNvPr id="26" name="txt-27"/>
          <p:cNvSpPr txBox="1"/>
          <p:nvPr/>
        </p:nvSpPr>
        <p:spPr>
          <a:xfrm>
            <a:off x="731520" y="4864608"/>
            <a:ext cx="822960" cy="457200"/>
          </a:xfrm>
          <a:prstGeom prst="rect">
            <a:avLst/>
          </a:prstGeom>
          <a:noFill/>
          <a:ln/>
        </p:spPr>
        <p:txBody>
          <a:bodyPr wrap="square" lIns="0" tIns="0" rIns="0" bIns="0" rtlCol="0" anchor="ctr"/>
          <a:lstStyle/>
          <a:p>
            <a:pPr indent="0" marL="0">
              <a:buNone/>
            </a:pPr>
            <a:r>
              <a:rPr lang="en-US" sz="1400" b="1" dirty="0">
                <a:solidFill>
                  <a:schemeClr val="accent1"/>
                </a:solidFill>
              </a:rPr>
              <a:t>범위</a:t>
            </a:r>
            <a:endParaRPr lang="en-US" sz="1400" dirty="0"/>
          </a:p>
        </p:txBody>
      </p:sp>
      <p:sp>
        <p:nvSpPr>
          <p:cNvPr id="27" name="txt-28"/>
          <p:cNvSpPr txBox="1"/>
          <p:nvPr/>
        </p:nvSpPr>
        <p:spPr>
          <a:xfrm>
            <a:off x="1554480" y="4864608"/>
            <a:ext cx="5852160" cy="457200"/>
          </a:xfrm>
          <a:prstGeom prst="rect">
            <a:avLst/>
          </a:prstGeom>
          <a:noFill/>
          <a:ln/>
        </p:spPr>
        <p:txBody>
          <a:bodyPr wrap="square" lIns="0" tIns="0" rIns="0" bIns="0" rtlCol="0" anchor="ctr"/>
          <a:lstStyle/>
          <a:p>
            <a:pPr indent="0" marL="0">
              <a:buNone/>
            </a:pPr>
            <a:r>
              <a:rPr lang="en-US" sz="1400" dirty="0">
                <a:solidFill>
                  <a:schemeClr val="tx1"/>
                </a:solidFill>
              </a:rPr>
              <a:t>진단·권장 조치까지 — 재시작 등 운영 조치는 실행하지 않음</a:t>
            </a:r>
            <a:endParaRPr lang="en-US" sz="1400" dirty="0"/>
          </a:p>
        </p:txBody>
      </p:sp>
      <p:sp>
        <p:nvSpPr>
          <p:cNvPr id="28" name="fact-29"/>
          <p:cNvSpPr/>
          <p:nvPr/>
        </p:nvSpPr>
        <p:spPr>
          <a:xfrm>
            <a:off x="548640" y="5431536"/>
            <a:ext cx="6949440" cy="457200"/>
          </a:xfrm>
          <a:prstGeom prst="roundRect">
            <a:avLst>
              <a:gd name="adj" fmla="val 16000"/>
            </a:avLst>
          </a:prstGeom>
          <a:solidFill>
            <a:schemeClr val="bg2"/>
          </a:solidFill>
          <a:ln/>
        </p:spPr>
      </p:sp>
      <p:sp>
        <p:nvSpPr>
          <p:cNvPr id="29" name="txt-30"/>
          <p:cNvSpPr txBox="1"/>
          <p:nvPr/>
        </p:nvSpPr>
        <p:spPr>
          <a:xfrm>
            <a:off x="731520" y="5431536"/>
            <a:ext cx="822960" cy="457200"/>
          </a:xfrm>
          <a:prstGeom prst="rect">
            <a:avLst/>
          </a:prstGeom>
          <a:noFill/>
          <a:ln/>
        </p:spPr>
        <p:txBody>
          <a:bodyPr wrap="square" lIns="0" tIns="0" rIns="0" bIns="0" rtlCol="0" anchor="ctr"/>
          <a:lstStyle/>
          <a:p>
            <a:pPr indent="0" marL="0">
              <a:buNone/>
            </a:pPr>
            <a:r>
              <a:rPr lang="en-US" sz="1400" b="1" dirty="0">
                <a:solidFill>
                  <a:schemeClr val="accent1"/>
                </a:solidFill>
              </a:rPr>
              <a:t>데이터</a:t>
            </a:r>
            <a:endParaRPr lang="en-US" sz="1400" dirty="0"/>
          </a:p>
        </p:txBody>
      </p:sp>
      <p:sp>
        <p:nvSpPr>
          <p:cNvPr id="30" name="txt-31"/>
          <p:cNvSpPr txBox="1"/>
          <p:nvPr/>
        </p:nvSpPr>
        <p:spPr>
          <a:xfrm>
            <a:off x="1554480" y="5431536"/>
            <a:ext cx="5852160" cy="457200"/>
          </a:xfrm>
          <a:prstGeom prst="rect">
            <a:avLst/>
          </a:prstGeom>
          <a:noFill/>
          <a:ln/>
        </p:spPr>
        <p:txBody>
          <a:bodyPr wrap="square" lIns="0" tIns="0" rIns="0" bIns="0" rtlCol="0" anchor="ctr"/>
          <a:lstStyle/>
          <a:p>
            <a:pPr indent="0" marL="0">
              <a:buNone/>
            </a:pPr>
            <a:r>
              <a:rPr lang="en-US" sz="1400" dirty="0">
                <a:solidFill>
                  <a:schemeClr val="tx1"/>
                </a:solidFill>
              </a:rPr>
              <a:t>수업용 샘플 모니터링 + 대응 매뉴얼 6종</a:t>
            </a:r>
            <a:endParaRPr lang="en-US" sz="1400" dirty="0"/>
          </a:p>
        </p:txBody>
      </p:sp>
      <p:sp>
        <p:nvSpPr>
          <p:cNvPr id="31" name="frame-single_report-32"/>
          <p:cNvSpPr/>
          <p:nvPr/>
        </p:nvSpPr>
        <p:spPr>
          <a:xfrm>
            <a:off x="7964424" y="1609344"/>
            <a:ext cx="3730752" cy="3658287"/>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32" name="shot-single_report-33" descr="진단 보고서 화면">    </p:cNvPr>
          <p:cNvPicPr>
            <a:picLocks noChangeAspect="1"/>
          </p:cNvPicPr>
          <p:nvPr/>
        </p:nvPicPr>
        <p:blipFill>
          <a:blip r:embed="rId5"/>
          <a:stretch>
            <a:fillRect/>
          </a:stretch>
        </p:blipFill>
        <p:spPr>
          <a:xfrm>
            <a:off x="8001000" y="1645920"/>
            <a:ext cx="3657600" cy="3585135"/>
          </a:xfrm>
          <a:prstGeom prst="rect">
            <a:avLst/>
          </a:prstGeom>
        </p:spPr>
      </p:pic>
      <p:sp>
        <p:nvSpPr>
          <p:cNvPr id="33" name="tag-34"/>
          <p:cNvSpPr txBox="1"/>
          <p:nvPr/>
        </p:nvSpPr>
        <p:spPr>
          <a:xfrm>
            <a:off x="7964424" y="1234440"/>
            <a:ext cx="1490472"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100" b="1" dirty="0">
                <a:solidFill>
                  <a:schemeClr val="bg1"/>
                </a:solidFill>
              </a:rPr>
              <a:t>실제 실행 화면</a:t>
            </a:r>
            <a:endParaRPr lang="en-US" sz="11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기존 시스템에서 확인한 약점</a:t>
            </a:r>
            <a:endParaRPr lang="en-US" sz="2800" dirty="0"/>
          </a:p>
        </p:txBody>
      </p:sp>
      <p:sp>
        <p:nvSpPr>
          <p:cNvPr id="3" name="num-35"/>
          <p:cNvSpPr/>
          <p:nvPr/>
        </p:nvSpPr>
        <p:spPr>
          <a:xfrm>
            <a:off x="548640" y="1371600"/>
            <a:ext cx="502920" cy="502920"/>
          </a:xfrm>
          <a:prstGeom prst="ellipse">
            <a:avLst/>
          </a:prstGeom>
          <a:solidFill>
            <a:schemeClr val="accent2"/>
          </a:solidFill>
          <a:ln/>
        </p:spPr>
      </p:sp>
      <p:sp>
        <p:nvSpPr>
          <p:cNvPr id="4" name="txt-36"/>
          <p:cNvSpPr txBox="1"/>
          <p:nvPr/>
        </p:nvSpPr>
        <p:spPr>
          <a:xfrm>
            <a:off x="548640" y="137160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txt-37"/>
          <p:cNvSpPr txBox="1"/>
          <p:nvPr/>
        </p:nvSpPr>
        <p:spPr>
          <a:xfrm>
            <a:off x="1280160" y="1325880"/>
            <a:ext cx="5120640" cy="411480"/>
          </a:xfrm>
          <a:prstGeom prst="rect">
            <a:avLst/>
          </a:prstGeom>
          <a:noFill/>
          <a:ln/>
        </p:spPr>
        <p:txBody>
          <a:bodyPr wrap="square" lIns="0" tIns="0" rIns="0" bIns="0" rtlCol="0" anchor="t"/>
          <a:lstStyle/>
          <a:p>
            <a:pPr indent="0" marL="0">
              <a:buNone/>
            </a:pPr>
            <a:r>
              <a:rPr lang="en-US" sz="1800" b="1" dirty="0">
                <a:solidFill>
                  <a:schemeClr val="tx1"/>
                </a:solidFill>
              </a:rPr>
              <a:t>복수 서비스인데 매뉴얼은 1개</a:t>
            </a:r>
            <a:endParaRPr lang="en-US" sz="1800" dirty="0"/>
          </a:p>
        </p:txBody>
      </p:sp>
      <p:sp>
        <p:nvSpPr>
          <p:cNvPr id="6" name="txt-38"/>
          <p:cNvSpPr txBox="1"/>
          <p:nvPr/>
        </p:nvSpPr>
        <p:spPr>
          <a:xfrm>
            <a:off x="1280160" y="1764792"/>
            <a:ext cx="5120640" cy="548640"/>
          </a:xfrm>
          <a:prstGeom prst="rect">
            <a:avLst/>
          </a:prstGeom>
          <a:noFill/>
          <a:ln/>
        </p:spPr>
        <p:txBody>
          <a:bodyPr wrap="square" lIns="0" tIns="0" rIns="0" bIns="0" rtlCol="0" anchor="t"/>
          <a:lstStyle/>
          <a:p>
            <a:pPr indent="0" marL="0">
              <a:buNone/>
            </a:pPr>
            <a:r>
              <a:rPr lang="en-US" sz="1400" dirty="0">
                <a:solidFill>
                  <a:schemeClr val="tx2"/>
                </a:solidFill>
              </a:rPr>
              <a:t>payments + cache → cpu-spike만 조회, memory-leak 누락</a:t>
            </a:r>
            <a:endParaRPr lang="en-US" sz="1400" dirty="0"/>
          </a:p>
        </p:txBody>
      </p:sp>
      <p:sp>
        <p:nvSpPr>
          <p:cNvPr id="7" name="num-39"/>
          <p:cNvSpPr/>
          <p:nvPr/>
        </p:nvSpPr>
        <p:spPr>
          <a:xfrm>
            <a:off x="548640" y="2542032"/>
            <a:ext cx="502920" cy="502920"/>
          </a:xfrm>
          <a:prstGeom prst="ellipse">
            <a:avLst/>
          </a:prstGeom>
          <a:solidFill>
            <a:schemeClr val="accent2"/>
          </a:solidFill>
          <a:ln/>
        </p:spPr>
      </p:sp>
      <p:sp>
        <p:nvSpPr>
          <p:cNvPr id="8" name="txt-40"/>
          <p:cNvSpPr txBox="1"/>
          <p:nvPr/>
        </p:nvSpPr>
        <p:spPr>
          <a:xfrm>
            <a:off x="548640" y="254203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xt-41"/>
          <p:cNvSpPr txBox="1"/>
          <p:nvPr/>
        </p:nvSpPr>
        <p:spPr>
          <a:xfrm>
            <a:off x="1280160" y="2496312"/>
            <a:ext cx="5120640" cy="411480"/>
          </a:xfrm>
          <a:prstGeom prst="rect">
            <a:avLst/>
          </a:prstGeom>
          <a:noFill/>
          <a:ln/>
        </p:spPr>
        <p:txBody>
          <a:bodyPr wrap="square" lIns="0" tIns="0" rIns="0" bIns="0" rtlCol="0" anchor="t"/>
          <a:lstStyle/>
          <a:p>
            <a:pPr indent="0" marL="0">
              <a:buNone/>
            </a:pPr>
            <a:r>
              <a:rPr lang="en-US" sz="1800" b="1" dirty="0">
                <a:solidFill>
                  <a:schemeClr val="tx1"/>
                </a:solidFill>
              </a:rPr>
              <a:t>후속 질문에 새 조회 없음</a:t>
            </a:r>
            <a:endParaRPr lang="en-US" sz="1800" dirty="0"/>
          </a:p>
        </p:txBody>
      </p:sp>
      <p:sp>
        <p:nvSpPr>
          <p:cNvPr id="10" name="txt-42"/>
          <p:cNvSpPr txBox="1"/>
          <p:nvPr/>
        </p:nvSpPr>
        <p:spPr>
          <a:xfrm>
            <a:off x="1280160" y="2935224"/>
            <a:ext cx="5120640" cy="548640"/>
          </a:xfrm>
          <a:prstGeom prst="rect">
            <a:avLst/>
          </a:prstGeom>
          <a:noFill/>
          <a:ln/>
        </p:spPr>
        <p:txBody>
          <a:bodyPr wrap="square" lIns="0" tIns="0" rIns="0" bIns="0" rtlCol="0" anchor="t"/>
          <a:lstStyle/>
          <a:p>
            <a:pPr indent="0" marL="0">
              <a:buNone/>
            </a:pPr>
            <a:r>
              <a:rPr lang="en-US" sz="1400" dirty="0">
                <a:solidFill>
                  <a:schemeClr val="tx2"/>
                </a:solidFill>
              </a:rPr>
              <a:t>“그 서비스 다시 확인해줘” → MCP 0회, 이전 CPU 95.0% 재사용</a:t>
            </a:r>
            <a:endParaRPr lang="en-US" sz="1400" dirty="0"/>
          </a:p>
        </p:txBody>
      </p:sp>
      <p:sp>
        <p:nvSpPr>
          <p:cNvPr id="11" name="num-43"/>
          <p:cNvSpPr/>
          <p:nvPr/>
        </p:nvSpPr>
        <p:spPr>
          <a:xfrm>
            <a:off x="548640" y="3712464"/>
            <a:ext cx="502920" cy="502920"/>
          </a:xfrm>
          <a:prstGeom prst="ellipse">
            <a:avLst/>
          </a:prstGeom>
          <a:solidFill>
            <a:schemeClr val="accent2"/>
          </a:solidFill>
          <a:ln/>
        </p:spPr>
      </p:sp>
      <p:sp>
        <p:nvSpPr>
          <p:cNvPr id="12" name="txt-44"/>
          <p:cNvSpPr txBox="1"/>
          <p:nvPr/>
        </p:nvSpPr>
        <p:spPr>
          <a:xfrm>
            <a:off x="548640" y="3712464"/>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txt-45"/>
          <p:cNvSpPr txBox="1"/>
          <p:nvPr/>
        </p:nvSpPr>
        <p:spPr>
          <a:xfrm>
            <a:off x="1280160" y="3666744"/>
            <a:ext cx="5120640" cy="411480"/>
          </a:xfrm>
          <a:prstGeom prst="rect">
            <a:avLst/>
          </a:prstGeom>
          <a:noFill/>
          <a:ln/>
        </p:spPr>
        <p:txBody>
          <a:bodyPr wrap="square" lIns="0" tIns="0" rIns="0" bIns="0" rtlCol="0" anchor="t"/>
          <a:lstStyle/>
          <a:p>
            <a:pPr indent="0" marL="0">
              <a:buNone/>
            </a:pPr>
            <a:r>
              <a:rPr lang="en-US" sz="1800" b="1" dirty="0">
                <a:solidFill>
                  <a:schemeClr val="tx1"/>
                </a:solidFill>
              </a:rPr>
              <a:t>형식만 보는 검수</a:t>
            </a:r>
            <a:endParaRPr lang="en-US" sz="1800" dirty="0"/>
          </a:p>
        </p:txBody>
      </p:sp>
      <p:sp>
        <p:nvSpPr>
          <p:cNvPr id="14" name="txt-46"/>
          <p:cNvSpPr txBox="1"/>
          <p:nvPr/>
        </p:nvSpPr>
        <p:spPr>
          <a:xfrm>
            <a:off x="1280160" y="4105656"/>
            <a:ext cx="5120640" cy="548640"/>
          </a:xfrm>
          <a:prstGeom prst="rect">
            <a:avLst/>
          </a:prstGeom>
          <a:noFill/>
          <a:ln/>
        </p:spPr>
        <p:txBody>
          <a:bodyPr wrap="square" lIns="0" tIns="0" rIns="0" bIns="0" rtlCol="0" anchor="t"/>
          <a:lstStyle/>
          <a:p>
            <a:pPr indent="0" marL="0">
              <a:buNone/>
            </a:pPr>
            <a:r>
              <a:rPr lang="en-US" sz="1400" dirty="0">
                <a:solidFill>
                  <a:schemeClr val="tx2"/>
                </a:solidFill>
              </a:rPr>
              <a:t>길이 ≥ 30자 + “1)” 포함이면 통과</a:t>
            </a:r>
            <a:endParaRPr lang="en-US" sz="1400" dirty="0"/>
          </a:p>
        </p:txBody>
      </p:sp>
      <p:sp>
        <p:nvSpPr>
          <p:cNvPr id="15" name="num-47"/>
          <p:cNvSpPr/>
          <p:nvPr/>
        </p:nvSpPr>
        <p:spPr>
          <a:xfrm>
            <a:off x="548640" y="4882896"/>
            <a:ext cx="502920" cy="502920"/>
          </a:xfrm>
          <a:prstGeom prst="ellipse">
            <a:avLst/>
          </a:prstGeom>
          <a:solidFill>
            <a:schemeClr val="accent2"/>
          </a:solidFill>
          <a:ln/>
        </p:spPr>
      </p:sp>
      <p:sp>
        <p:nvSpPr>
          <p:cNvPr id="16" name="txt-48"/>
          <p:cNvSpPr txBox="1"/>
          <p:nvPr/>
        </p:nvSpPr>
        <p:spPr>
          <a:xfrm>
            <a:off x="548640" y="4882896"/>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7" name="txt-49"/>
          <p:cNvSpPr txBox="1"/>
          <p:nvPr/>
        </p:nvSpPr>
        <p:spPr>
          <a:xfrm>
            <a:off x="1280160" y="4837176"/>
            <a:ext cx="5120640" cy="411480"/>
          </a:xfrm>
          <a:prstGeom prst="rect">
            <a:avLst/>
          </a:prstGeom>
          <a:noFill/>
          <a:ln/>
        </p:spPr>
        <p:txBody>
          <a:bodyPr wrap="square" lIns="0" tIns="0" rIns="0" bIns="0" rtlCol="0" anchor="t"/>
          <a:lstStyle/>
          <a:p>
            <a:pPr indent="0" marL="0">
              <a:buNone/>
            </a:pPr>
            <a:r>
              <a:rPr lang="en-US" sz="1800" b="1" dirty="0">
                <a:solidFill>
                  <a:schemeClr val="tx1"/>
                </a:solidFill>
              </a:rPr>
              <a:t>근거 없는 단정</a:t>
            </a:r>
            <a:endParaRPr lang="en-US" sz="1800" dirty="0"/>
          </a:p>
        </p:txBody>
      </p:sp>
      <p:sp>
        <p:nvSpPr>
          <p:cNvPr id="18" name="txt-50"/>
          <p:cNvSpPr txBox="1"/>
          <p:nvPr/>
        </p:nvSpPr>
        <p:spPr>
          <a:xfrm>
            <a:off x="1280160" y="5276088"/>
            <a:ext cx="5120640" cy="548640"/>
          </a:xfrm>
          <a:prstGeom prst="rect">
            <a:avLst/>
          </a:prstGeom>
          <a:noFill/>
          <a:ln/>
        </p:spPr>
        <p:txBody>
          <a:bodyPr wrap="square" lIns="0" tIns="0" rIns="0" bIns="0" rtlCol="0" anchor="t"/>
          <a:lstStyle/>
          <a:p>
            <a:pPr indent="0" marL="0">
              <a:buNone/>
            </a:pPr>
            <a:r>
              <a:rPr lang="en-US" sz="1400" dirty="0">
                <a:solidFill>
                  <a:schemeClr val="tx2"/>
                </a:solidFill>
              </a:rPr>
              <a:t>출처 없이 번호형 서술, ‘90% 초과 지속’을 전제로 조치 제시</a:t>
            </a:r>
            <a:endParaRPr lang="en-US" sz="1400" dirty="0"/>
          </a:p>
        </p:txBody>
      </p:sp>
      <p:sp>
        <p:nvSpPr>
          <p:cNvPr id="19" name="frame-before_multi-51"/>
          <p:cNvSpPr/>
          <p:nvPr/>
        </p:nvSpPr>
        <p:spPr>
          <a:xfrm>
            <a:off x="6638544" y="1700784"/>
            <a:ext cx="5056632" cy="3062581"/>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20" name="shot-before_multi-52" descr="before_multi">    </p:cNvPr>
          <p:cNvPicPr>
            <a:picLocks noChangeAspect="1"/>
          </p:cNvPicPr>
          <p:nvPr/>
        </p:nvPicPr>
        <p:blipFill>
          <a:blip r:embed="rId1"/>
          <a:stretch>
            <a:fillRect/>
          </a:stretch>
        </p:blipFill>
        <p:spPr>
          <a:xfrm>
            <a:off x="6675120" y="1737360"/>
            <a:ext cx="4983480" cy="2989429"/>
          </a:xfrm>
          <a:prstGeom prst="rect">
            <a:avLst/>
          </a:prstGeom>
        </p:spPr>
      </p:pic>
      <p:sp>
        <p:nvSpPr>
          <p:cNvPr id="21" name="tag-53"/>
          <p:cNvSpPr txBox="1"/>
          <p:nvPr/>
        </p:nvSpPr>
        <p:spPr>
          <a:xfrm>
            <a:off x="6638544" y="1325880"/>
            <a:ext cx="3246120" cy="292608"/>
          </a:xfrm>
          <a:prstGeom prst="roundRect">
            <a:avLst>
              <a:gd name="adj" fmla="val 156250"/>
            </a:avLst>
          </a:prstGeom>
          <a:solidFill>
            <a:schemeClr val="accent2"/>
          </a:solidFill>
          <a:ln/>
        </p:spPr>
        <p:txBody>
          <a:bodyPr wrap="square" lIns="0" tIns="0" rIns="0" bIns="0" rtlCol="0" anchor="ctr"/>
          <a:lstStyle/>
          <a:p>
            <a:pPr algn="ctr" indent="0" marL="0">
              <a:buNone/>
            </a:pPr>
            <a:r>
              <a:rPr lang="en-US" sz="1200" b="1" dirty="0">
                <a:solidFill>
                  <a:schemeClr val="tx1"/>
                </a:solidFill>
              </a:rPr>
              <a:t>개선 전 · 실제 OpenAI+MCP</a:t>
            </a:r>
            <a:endParaRPr lang="en-US" sz="1200" dirty="0"/>
          </a:p>
        </p:txBody>
      </p:sp>
      <p:sp>
        <p:nvSpPr>
          <p:cNvPr id="22" name="cap-54"/>
          <p:cNvSpPr txBox="1"/>
          <p:nvPr/>
        </p:nvSpPr>
        <p:spPr>
          <a:xfrm>
            <a:off x="6675120" y="4836517"/>
            <a:ext cx="4983480" cy="365760"/>
          </a:xfrm>
          <a:prstGeom prst="rect">
            <a:avLst/>
          </a:prstGeom>
          <a:noFill/>
          <a:ln/>
        </p:spPr>
        <p:txBody>
          <a:bodyPr wrap="square" lIns="0" tIns="0" rIns="0" bIns="0" rtlCol="0" anchor="t"/>
          <a:lstStyle/>
          <a:p>
            <a:pPr algn="ctr" indent="0" marL="0">
              <a:buNone/>
            </a:pPr>
            <a:r>
              <a:rPr lang="en-US" sz="1200" dirty="0">
                <a:solidFill>
                  <a:schemeClr val="tx2"/>
                </a:solidFill>
              </a:rPr>
              <a:t>개선 전 복수 서비스 진단 — 매뉴얼 cpu-spike만 조회 (10/22 11:10 측정)</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기능 개선 5가지 — 핵심 평가 포인트</a:t>
            </a:r>
            <a:endParaRPr lang="en-US" sz="2800" dirty="0"/>
          </a:p>
        </p:txBody>
      </p:sp>
      <p:sp>
        <p:nvSpPr>
          <p:cNvPr id="3" name="card-55"/>
          <p:cNvSpPr/>
          <p:nvPr/>
        </p:nvSpPr>
        <p:spPr>
          <a:xfrm>
            <a:off x="548640" y="1234440"/>
            <a:ext cx="11109960" cy="841248"/>
          </a:xfrm>
          <a:prstGeom prst="roundRect">
            <a:avLst>
              <a:gd name="adj" fmla="val 10870"/>
            </a:avLst>
          </a:prstGeom>
          <a:solidFill>
            <a:schemeClr val="bg2"/>
          </a:solidFill>
          <a:ln/>
        </p:spPr>
      </p:sp>
      <p:sp>
        <p:nvSpPr>
          <p:cNvPr id="4" name="icon-bg-56"/>
          <p:cNvSpPr/>
          <p:nvPr/>
        </p:nvSpPr>
        <p:spPr>
          <a:xfrm>
            <a:off x="731520" y="1362456"/>
            <a:ext cx="585216" cy="585216"/>
          </a:xfrm>
          <a:prstGeom prst="ellipse">
            <a:avLst/>
          </a:prstGeom>
          <a:solidFill>
            <a:schemeClr val="tx1"/>
          </a:solidFill>
          <a:ln/>
        </p:spPr>
      </p:sp>
      <p:pic>
        <p:nvPicPr>
          <p:cNvPr id="5" name="icon-57" descr="preencoded.png">    </p:cNvPr>
          <p:cNvPicPr>
            <a:picLocks noChangeAspect="1"/>
          </p:cNvPicPr>
          <p:nvPr/>
        </p:nvPicPr>
        <p:blipFill>
          <a:blip r:embed="rId1"/>
          <a:stretch>
            <a:fillRect/>
          </a:stretch>
        </p:blipFill>
        <p:spPr>
          <a:xfrm>
            <a:off x="883676" y="1514612"/>
            <a:ext cx="280904" cy="280904"/>
          </a:xfrm>
          <a:prstGeom prst="rect">
            <a:avLst/>
          </a:prstGeom>
        </p:spPr>
      </p:pic>
      <p:sp>
        <p:nvSpPr>
          <p:cNvPr id="6" name="txt-58"/>
          <p:cNvSpPr txBox="1"/>
          <p:nvPr/>
        </p:nvSpPr>
        <p:spPr>
          <a:xfrm>
            <a:off x="1508760" y="1234440"/>
            <a:ext cx="548640" cy="841248"/>
          </a:xfrm>
          <a:prstGeom prst="rect">
            <a:avLst/>
          </a:prstGeom>
          <a:noFill/>
          <a:ln/>
        </p:spPr>
        <p:txBody>
          <a:bodyPr wrap="square" lIns="0" tIns="0" rIns="0" bIns="0" rtlCol="0" anchor="ctr"/>
          <a:lstStyle/>
          <a:p>
            <a:pPr indent="0" marL="0">
              <a:buNone/>
            </a:pPr>
            <a:r>
              <a:rPr lang="en-US" sz="1600" b="1" dirty="0">
                <a:solidFill>
                  <a:schemeClr val="accent1"/>
                </a:solidFill>
              </a:rPr>
              <a:t>01</a:t>
            </a:r>
            <a:endParaRPr lang="en-US" sz="1600" dirty="0"/>
          </a:p>
        </p:txBody>
      </p:sp>
      <p:sp>
        <p:nvSpPr>
          <p:cNvPr id="7" name="txt-59"/>
          <p:cNvSpPr txBox="1"/>
          <p:nvPr/>
        </p:nvSpPr>
        <p:spPr>
          <a:xfrm>
            <a:off x="2011680" y="1234440"/>
            <a:ext cx="2926080" cy="841248"/>
          </a:xfrm>
          <a:prstGeom prst="rect">
            <a:avLst/>
          </a:prstGeom>
          <a:noFill/>
          <a:ln/>
        </p:spPr>
        <p:txBody>
          <a:bodyPr wrap="square" lIns="0" tIns="0" rIns="0" bIns="0" rtlCol="0" anchor="ctr"/>
          <a:lstStyle/>
          <a:p>
            <a:pPr indent="0" marL="0">
              <a:buNone/>
            </a:pPr>
            <a:r>
              <a:rPr lang="en-US" sz="1800" b="1" dirty="0">
                <a:solidFill>
                  <a:schemeClr val="tx1"/>
                </a:solidFill>
              </a:rPr>
              <a:t>조사 대상 정확성</a:t>
            </a:r>
            <a:endParaRPr lang="en-US" sz="1800" dirty="0"/>
          </a:p>
        </p:txBody>
      </p:sp>
      <p:sp>
        <p:nvSpPr>
          <p:cNvPr id="8" name="txt-60"/>
          <p:cNvSpPr txBox="1"/>
          <p:nvPr/>
        </p:nvSpPr>
        <p:spPr>
          <a:xfrm>
            <a:off x="4937760" y="1234440"/>
            <a:ext cx="6583680" cy="841248"/>
          </a:xfrm>
          <a:prstGeom prst="rect">
            <a:avLst/>
          </a:prstGeom>
          <a:noFill/>
          <a:ln/>
        </p:spPr>
        <p:txBody>
          <a:bodyPr wrap="square" lIns="0" tIns="0" rIns="0" bIns="0" rtlCol="0" anchor="ctr"/>
          <a:lstStyle/>
          <a:p>
            <a:pPr indent="0" marL="0">
              <a:buNone/>
            </a:pPr>
            <a:r>
              <a:rPr lang="en-US" sz="1400" dirty="0">
                <a:solidFill>
                  <a:schemeClr val="tx2"/>
                </a:solidFill>
              </a:rPr>
              <a:t>요청 서비스의 누락·중복·범위 이탈 보정 · 불명확/미등록이면 사용자에게 확인</a:t>
            </a:r>
            <a:endParaRPr lang="en-US" sz="1400" dirty="0"/>
          </a:p>
        </p:txBody>
      </p:sp>
      <p:sp>
        <p:nvSpPr>
          <p:cNvPr id="9" name="card-61"/>
          <p:cNvSpPr/>
          <p:nvPr/>
        </p:nvSpPr>
        <p:spPr>
          <a:xfrm>
            <a:off x="548640" y="2221992"/>
            <a:ext cx="11109960" cy="841248"/>
          </a:xfrm>
          <a:prstGeom prst="roundRect">
            <a:avLst>
              <a:gd name="adj" fmla="val 10870"/>
            </a:avLst>
          </a:prstGeom>
          <a:solidFill>
            <a:schemeClr val="bg2"/>
          </a:solidFill>
          <a:ln/>
        </p:spPr>
      </p:sp>
      <p:sp>
        <p:nvSpPr>
          <p:cNvPr id="10" name="icon-bg-62"/>
          <p:cNvSpPr/>
          <p:nvPr/>
        </p:nvSpPr>
        <p:spPr>
          <a:xfrm>
            <a:off x="731520" y="2350008"/>
            <a:ext cx="585216" cy="585216"/>
          </a:xfrm>
          <a:prstGeom prst="ellipse">
            <a:avLst/>
          </a:prstGeom>
          <a:solidFill>
            <a:schemeClr val="tx1"/>
          </a:solidFill>
          <a:ln/>
        </p:spPr>
      </p:sp>
      <p:pic>
        <p:nvPicPr>
          <p:cNvPr id="11" name="icon-63" descr="preencoded.png">    </p:cNvPr>
          <p:cNvPicPr>
            <a:picLocks noChangeAspect="1"/>
          </p:cNvPicPr>
          <p:nvPr/>
        </p:nvPicPr>
        <p:blipFill>
          <a:blip r:embed="rId2"/>
          <a:stretch>
            <a:fillRect/>
          </a:stretch>
        </p:blipFill>
        <p:spPr>
          <a:xfrm>
            <a:off x="883676" y="2502164"/>
            <a:ext cx="280904" cy="280904"/>
          </a:xfrm>
          <a:prstGeom prst="rect">
            <a:avLst/>
          </a:prstGeom>
        </p:spPr>
      </p:pic>
      <p:sp>
        <p:nvSpPr>
          <p:cNvPr id="12" name="txt-64"/>
          <p:cNvSpPr txBox="1"/>
          <p:nvPr/>
        </p:nvSpPr>
        <p:spPr>
          <a:xfrm>
            <a:off x="1508760" y="2221992"/>
            <a:ext cx="548640" cy="841248"/>
          </a:xfrm>
          <a:prstGeom prst="rect">
            <a:avLst/>
          </a:prstGeom>
          <a:noFill/>
          <a:ln/>
        </p:spPr>
        <p:txBody>
          <a:bodyPr wrap="square" lIns="0" tIns="0" rIns="0" bIns="0" rtlCol="0" anchor="ctr"/>
          <a:lstStyle/>
          <a:p>
            <a:pPr indent="0" marL="0">
              <a:buNone/>
            </a:pPr>
            <a:r>
              <a:rPr lang="en-US" sz="1600" b="1" dirty="0">
                <a:solidFill>
                  <a:schemeClr val="accent1"/>
                </a:solidFill>
              </a:rPr>
              <a:t>02</a:t>
            </a:r>
            <a:endParaRPr lang="en-US" sz="1600" dirty="0"/>
          </a:p>
        </p:txBody>
      </p:sp>
      <p:sp>
        <p:nvSpPr>
          <p:cNvPr id="13" name="txt-65"/>
          <p:cNvSpPr txBox="1"/>
          <p:nvPr/>
        </p:nvSpPr>
        <p:spPr>
          <a:xfrm>
            <a:off x="2011680" y="2221992"/>
            <a:ext cx="2926080" cy="841248"/>
          </a:xfrm>
          <a:prstGeom prst="rect">
            <a:avLst/>
          </a:prstGeom>
          <a:noFill/>
          <a:ln/>
        </p:spPr>
        <p:txBody>
          <a:bodyPr wrap="square" lIns="0" tIns="0" rIns="0" bIns="0" rtlCol="0" anchor="ctr"/>
          <a:lstStyle/>
          <a:p>
            <a:pPr indent="0" marL="0">
              <a:buNone/>
            </a:pPr>
            <a:r>
              <a:rPr lang="en-US" sz="1800" b="1" dirty="0">
                <a:solidFill>
                  <a:schemeClr val="tx1"/>
                </a:solidFill>
              </a:rPr>
              <a:t>서비스별 매뉴얼 선택</a:t>
            </a:r>
            <a:endParaRPr lang="en-US" sz="1800" dirty="0"/>
          </a:p>
        </p:txBody>
      </p:sp>
      <p:sp>
        <p:nvSpPr>
          <p:cNvPr id="14" name="txt-66"/>
          <p:cNvSpPr txBox="1"/>
          <p:nvPr/>
        </p:nvSpPr>
        <p:spPr>
          <a:xfrm>
            <a:off x="4937760" y="2221992"/>
            <a:ext cx="6583680" cy="841248"/>
          </a:xfrm>
          <a:prstGeom prst="rect">
            <a:avLst/>
          </a:prstGeom>
          <a:noFill/>
          <a:ln/>
        </p:spPr>
        <p:txBody>
          <a:bodyPr wrap="square" lIns="0" tIns="0" rIns="0" bIns="0" rtlCol="0" anchor="ctr"/>
          <a:lstStyle/>
          <a:p>
            <a:pPr indent="0" marL="0">
              <a:buNone/>
            </a:pPr>
            <a:r>
              <a:rPr lang="en-US" sz="1400" dirty="0">
                <a:solidFill>
                  <a:schemeClr val="tx2"/>
                </a:solidFill>
              </a:rPr>
              <a:t>관측 수치·알림 기반 복수 선택 · 정상 / 자료 부족 / 문서 없음 구분</a:t>
            </a:r>
            <a:endParaRPr lang="en-US" sz="1400" dirty="0"/>
          </a:p>
        </p:txBody>
      </p:sp>
      <p:sp>
        <p:nvSpPr>
          <p:cNvPr id="15" name="card-67"/>
          <p:cNvSpPr/>
          <p:nvPr/>
        </p:nvSpPr>
        <p:spPr>
          <a:xfrm>
            <a:off x="548640" y="3209544"/>
            <a:ext cx="11109960" cy="841248"/>
          </a:xfrm>
          <a:prstGeom prst="roundRect">
            <a:avLst>
              <a:gd name="adj" fmla="val 10870"/>
            </a:avLst>
          </a:prstGeom>
          <a:solidFill>
            <a:schemeClr val="bg2"/>
          </a:solidFill>
          <a:ln/>
        </p:spPr>
      </p:sp>
      <p:sp>
        <p:nvSpPr>
          <p:cNvPr id="16" name="icon-bg-68"/>
          <p:cNvSpPr/>
          <p:nvPr/>
        </p:nvSpPr>
        <p:spPr>
          <a:xfrm>
            <a:off x="731520" y="3337560"/>
            <a:ext cx="585216" cy="585216"/>
          </a:xfrm>
          <a:prstGeom prst="ellipse">
            <a:avLst/>
          </a:prstGeom>
          <a:solidFill>
            <a:schemeClr val="tx1"/>
          </a:solidFill>
          <a:ln/>
        </p:spPr>
      </p:sp>
      <p:pic>
        <p:nvPicPr>
          <p:cNvPr id="17" name="icon-69" descr="preencoded.png">    </p:cNvPr>
          <p:cNvPicPr>
            <a:picLocks noChangeAspect="1"/>
          </p:cNvPicPr>
          <p:nvPr/>
        </p:nvPicPr>
        <p:blipFill>
          <a:blip r:embed="rId3"/>
          <a:stretch>
            <a:fillRect/>
          </a:stretch>
        </p:blipFill>
        <p:spPr>
          <a:xfrm>
            <a:off x="883676" y="3489716"/>
            <a:ext cx="280904" cy="280904"/>
          </a:xfrm>
          <a:prstGeom prst="rect">
            <a:avLst/>
          </a:prstGeom>
        </p:spPr>
      </p:pic>
      <p:sp>
        <p:nvSpPr>
          <p:cNvPr id="18" name="txt-70"/>
          <p:cNvSpPr txBox="1"/>
          <p:nvPr/>
        </p:nvSpPr>
        <p:spPr>
          <a:xfrm>
            <a:off x="1508760" y="3209544"/>
            <a:ext cx="548640" cy="841248"/>
          </a:xfrm>
          <a:prstGeom prst="rect">
            <a:avLst/>
          </a:prstGeom>
          <a:noFill/>
          <a:ln/>
        </p:spPr>
        <p:txBody>
          <a:bodyPr wrap="square" lIns="0" tIns="0" rIns="0" bIns="0" rtlCol="0" anchor="ctr"/>
          <a:lstStyle/>
          <a:p>
            <a:pPr indent="0" marL="0">
              <a:buNone/>
            </a:pPr>
            <a:r>
              <a:rPr lang="en-US" sz="1600" b="1" dirty="0">
                <a:solidFill>
                  <a:schemeClr val="accent1"/>
                </a:solidFill>
              </a:rPr>
              <a:t>03</a:t>
            </a:r>
            <a:endParaRPr lang="en-US" sz="1600" dirty="0"/>
          </a:p>
        </p:txBody>
      </p:sp>
      <p:sp>
        <p:nvSpPr>
          <p:cNvPr id="19" name="txt-71"/>
          <p:cNvSpPr txBox="1"/>
          <p:nvPr/>
        </p:nvSpPr>
        <p:spPr>
          <a:xfrm>
            <a:off x="2011680" y="3209544"/>
            <a:ext cx="2926080" cy="841248"/>
          </a:xfrm>
          <a:prstGeom prst="rect">
            <a:avLst/>
          </a:prstGeom>
          <a:noFill/>
          <a:ln/>
        </p:spPr>
        <p:txBody>
          <a:bodyPr wrap="square" lIns="0" tIns="0" rIns="0" bIns="0" rtlCol="0" anchor="ctr"/>
          <a:lstStyle/>
          <a:p>
            <a:pPr indent="0" marL="0">
              <a:buNone/>
            </a:pPr>
            <a:r>
              <a:rPr lang="en-US" sz="1800" b="1" dirty="0">
                <a:solidFill>
                  <a:schemeClr val="tx1"/>
                </a:solidFill>
              </a:rPr>
              <a:t>답변 검증 강화</a:t>
            </a:r>
            <a:endParaRPr lang="en-US" sz="1800" dirty="0"/>
          </a:p>
        </p:txBody>
      </p:sp>
      <p:sp>
        <p:nvSpPr>
          <p:cNvPr id="20" name="txt-72"/>
          <p:cNvSpPr txBox="1"/>
          <p:nvPr/>
        </p:nvSpPr>
        <p:spPr>
          <a:xfrm>
            <a:off x="4937760" y="3209544"/>
            <a:ext cx="6583680" cy="841248"/>
          </a:xfrm>
          <a:prstGeom prst="rect">
            <a:avLst/>
          </a:prstGeom>
          <a:noFill/>
          <a:ln/>
        </p:spPr>
        <p:txBody>
          <a:bodyPr wrap="square" lIns="0" tIns="0" rIns="0" bIns="0" rtlCol="0" anchor="ctr"/>
          <a:lstStyle/>
          <a:p>
            <a:pPr indent="0" marL="0">
              <a:buNone/>
            </a:pPr>
            <a:r>
              <a:rPr lang="en-US" sz="1400" dirty="0">
                <a:solidFill>
                  <a:schemeClr val="tx2"/>
                </a:solidFill>
              </a:rPr>
              <a:t>서비스명·수치·출처·조치 조건 대조 · 제한적 재작성 · 반복 실패는 ‘검증 미통과’</a:t>
            </a:r>
            <a:endParaRPr lang="en-US" sz="1400" dirty="0"/>
          </a:p>
        </p:txBody>
      </p:sp>
      <p:sp>
        <p:nvSpPr>
          <p:cNvPr id="21" name="card-73"/>
          <p:cNvSpPr/>
          <p:nvPr/>
        </p:nvSpPr>
        <p:spPr>
          <a:xfrm>
            <a:off x="548640" y="4197096"/>
            <a:ext cx="11109960" cy="841248"/>
          </a:xfrm>
          <a:prstGeom prst="roundRect">
            <a:avLst>
              <a:gd name="adj" fmla="val 10870"/>
            </a:avLst>
          </a:prstGeom>
          <a:solidFill>
            <a:schemeClr val="bg2"/>
          </a:solidFill>
          <a:ln/>
        </p:spPr>
      </p:sp>
      <p:sp>
        <p:nvSpPr>
          <p:cNvPr id="22" name="icon-bg-74"/>
          <p:cNvSpPr/>
          <p:nvPr/>
        </p:nvSpPr>
        <p:spPr>
          <a:xfrm>
            <a:off x="731520" y="4325112"/>
            <a:ext cx="585216" cy="585216"/>
          </a:xfrm>
          <a:prstGeom prst="ellipse">
            <a:avLst/>
          </a:prstGeom>
          <a:solidFill>
            <a:schemeClr val="tx1"/>
          </a:solidFill>
          <a:ln/>
        </p:spPr>
      </p:sp>
      <p:pic>
        <p:nvPicPr>
          <p:cNvPr id="23" name="icon-75" descr="preencoded.png">    </p:cNvPr>
          <p:cNvPicPr>
            <a:picLocks noChangeAspect="1"/>
          </p:cNvPicPr>
          <p:nvPr/>
        </p:nvPicPr>
        <p:blipFill>
          <a:blip r:embed="rId4"/>
          <a:stretch>
            <a:fillRect/>
          </a:stretch>
        </p:blipFill>
        <p:spPr>
          <a:xfrm>
            <a:off x="883676" y="4477268"/>
            <a:ext cx="280904" cy="280904"/>
          </a:xfrm>
          <a:prstGeom prst="rect">
            <a:avLst/>
          </a:prstGeom>
        </p:spPr>
      </p:pic>
      <p:sp>
        <p:nvSpPr>
          <p:cNvPr id="24" name="txt-76"/>
          <p:cNvSpPr txBox="1"/>
          <p:nvPr/>
        </p:nvSpPr>
        <p:spPr>
          <a:xfrm>
            <a:off x="1508760" y="4197096"/>
            <a:ext cx="548640" cy="841248"/>
          </a:xfrm>
          <a:prstGeom prst="rect">
            <a:avLst/>
          </a:prstGeom>
          <a:noFill/>
          <a:ln/>
        </p:spPr>
        <p:txBody>
          <a:bodyPr wrap="square" lIns="0" tIns="0" rIns="0" bIns="0" rtlCol="0" anchor="ctr"/>
          <a:lstStyle/>
          <a:p>
            <a:pPr indent="0" marL="0">
              <a:buNone/>
            </a:pPr>
            <a:r>
              <a:rPr lang="en-US" sz="1600" b="1" dirty="0">
                <a:solidFill>
                  <a:schemeClr val="accent1"/>
                </a:solidFill>
              </a:rPr>
              <a:t>04</a:t>
            </a:r>
            <a:endParaRPr lang="en-US" sz="1600" dirty="0"/>
          </a:p>
        </p:txBody>
      </p:sp>
      <p:sp>
        <p:nvSpPr>
          <p:cNvPr id="25" name="txt-77"/>
          <p:cNvSpPr txBox="1"/>
          <p:nvPr/>
        </p:nvSpPr>
        <p:spPr>
          <a:xfrm>
            <a:off x="2011680" y="4197096"/>
            <a:ext cx="2926080" cy="841248"/>
          </a:xfrm>
          <a:prstGeom prst="rect">
            <a:avLst/>
          </a:prstGeom>
          <a:noFill/>
          <a:ln/>
        </p:spPr>
        <p:txBody>
          <a:bodyPr wrap="square" lIns="0" tIns="0" rIns="0" bIns="0" rtlCol="0" anchor="ctr"/>
          <a:lstStyle/>
          <a:p>
            <a:pPr indent="0" marL="0">
              <a:buNone/>
            </a:pPr>
            <a:r>
              <a:rPr lang="en-US" sz="1800" b="1" dirty="0">
                <a:solidFill>
                  <a:schemeClr val="tx1"/>
                </a:solidFill>
              </a:rPr>
              <a:t>처리 안정성·스트리밍</a:t>
            </a:r>
            <a:endParaRPr lang="en-US" sz="1800" dirty="0"/>
          </a:p>
        </p:txBody>
      </p:sp>
      <p:sp>
        <p:nvSpPr>
          <p:cNvPr id="26" name="txt-78"/>
          <p:cNvSpPr txBox="1"/>
          <p:nvPr/>
        </p:nvSpPr>
        <p:spPr>
          <a:xfrm>
            <a:off x="4937760" y="4197096"/>
            <a:ext cx="6583680" cy="841248"/>
          </a:xfrm>
          <a:prstGeom prst="rect">
            <a:avLst/>
          </a:prstGeom>
          <a:noFill/>
          <a:ln/>
        </p:spPr>
        <p:txBody>
          <a:bodyPr wrap="square" lIns="0" tIns="0" rIns="0" bIns="0" rtlCol="0" anchor="ctr"/>
          <a:lstStyle/>
          <a:p>
            <a:pPr indent="0" marL="0">
              <a:buNone/>
            </a:pPr>
            <a:r>
              <a:rPr lang="en-US" sz="1400" dirty="0">
                <a:solidFill>
                  <a:schemeClr val="tx2"/>
                </a:solidFill>
              </a:rPr>
              <a:t>비동기 호출 · 개별 조회 실패 격리 · 시간 제한 · 실제 작업 진행 상태 · 답변 점진 표시</a:t>
            </a:r>
            <a:endParaRPr lang="en-US" sz="1400" dirty="0"/>
          </a:p>
        </p:txBody>
      </p:sp>
      <p:sp>
        <p:nvSpPr>
          <p:cNvPr id="27" name="card-79"/>
          <p:cNvSpPr/>
          <p:nvPr/>
        </p:nvSpPr>
        <p:spPr>
          <a:xfrm>
            <a:off x="548640" y="5184648"/>
            <a:ext cx="11109960" cy="841248"/>
          </a:xfrm>
          <a:prstGeom prst="roundRect">
            <a:avLst>
              <a:gd name="adj" fmla="val 10870"/>
            </a:avLst>
          </a:prstGeom>
          <a:solidFill>
            <a:schemeClr val="bg2"/>
          </a:solidFill>
          <a:ln/>
        </p:spPr>
      </p:sp>
      <p:sp>
        <p:nvSpPr>
          <p:cNvPr id="28" name="icon-bg-80"/>
          <p:cNvSpPr/>
          <p:nvPr/>
        </p:nvSpPr>
        <p:spPr>
          <a:xfrm>
            <a:off x="731520" y="5312664"/>
            <a:ext cx="585216" cy="585216"/>
          </a:xfrm>
          <a:prstGeom prst="ellipse">
            <a:avLst/>
          </a:prstGeom>
          <a:solidFill>
            <a:schemeClr val="tx1"/>
          </a:solidFill>
          <a:ln/>
        </p:spPr>
      </p:sp>
      <p:pic>
        <p:nvPicPr>
          <p:cNvPr id="29" name="icon-81" descr="preencoded.png">    </p:cNvPr>
          <p:cNvPicPr>
            <a:picLocks noChangeAspect="1"/>
          </p:cNvPicPr>
          <p:nvPr/>
        </p:nvPicPr>
        <p:blipFill>
          <a:blip r:embed="rId5"/>
          <a:stretch>
            <a:fillRect/>
          </a:stretch>
        </p:blipFill>
        <p:spPr>
          <a:xfrm>
            <a:off x="883676" y="5464820"/>
            <a:ext cx="280904" cy="280904"/>
          </a:xfrm>
          <a:prstGeom prst="rect">
            <a:avLst/>
          </a:prstGeom>
        </p:spPr>
      </p:pic>
      <p:sp>
        <p:nvSpPr>
          <p:cNvPr id="30" name="txt-82"/>
          <p:cNvSpPr txBox="1"/>
          <p:nvPr/>
        </p:nvSpPr>
        <p:spPr>
          <a:xfrm>
            <a:off x="1508760" y="5184648"/>
            <a:ext cx="548640" cy="841248"/>
          </a:xfrm>
          <a:prstGeom prst="rect">
            <a:avLst/>
          </a:prstGeom>
          <a:noFill/>
          <a:ln/>
        </p:spPr>
        <p:txBody>
          <a:bodyPr wrap="square" lIns="0" tIns="0" rIns="0" bIns="0" rtlCol="0" anchor="ctr"/>
          <a:lstStyle/>
          <a:p>
            <a:pPr indent="0" marL="0">
              <a:buNone/>
            </a:pPr>
            <a:r>
              <a:rPr lang="en-US" sz="1600" b="1" dirty="0">
                <a:solidFill>
                  <a:schemeClr val="accent1"/>
                </a:solidFill>
              </a:rPr>
              <a:t>05</a:t>
            </a:r>
            <a:endParaRPr lang="en-US" sz="1600" dirty="0"/>
          </a:p>
        </p:txBody>
      </p:sp>
      <p:sp>
        <p:nvSpPr>
          <p:cNvPr id="31" name="txt-83"/>
          <p:cNvSpPr txBox="1"/>
          <p:nvPr/>
        </p:nvSpPr>
        <p:spPr>
          <a:xfrm>
            <a:off x="2011680" y="5184648"/>
            <a:ext cx="2926080" cy="841248"/>
          </a:xfrm>
          <a:prstGeom prst="rect">
            <a:avLst/>
          </a:prstGeom>
          <a:noFill/>
          <a:ln/>
        </p:spPr>
        <p:txBody>
          <a:bodyPr wrap="square" lIns="0" tIns="0" rIns="0" bIns="0" rtlCol="0" anchor="ctr"/>
          <a:lstStyle/>
          <a:p>
            <a:pPr indent="0" marL="0">
              <a:buNone/>
            </a:pPr>
            <a:r>
              <a:rPr lang="en-US" sz="1800" b="1" dirty="0">
                <a:solidFill>
                  <a:schemeClr val="tx1"/>
                </a:solidFill>
              </a:rPr>
              <a:t>대화 맥락·세션</a:t>
            </a:r>
            <a:endParaRPr lang="en-US" sz="1800" dirty="0"/>
          </a:p>
        </p:txBody>
      </p:sp>
      <p:sp>
        <p:nvSpPr>
          <p:cNvPr id="32" name="txt-84"/>
          <p:cNvSpPr txBox="1"/>
          <p:nvPr/>
        </p:nvSpPr>
        <p:spPr>
          <a:xfrm>
            <a:off x="4937760" y="5184648"/>
            <a:ext cx="6583680" cy="841248"/>
          </a:xfrm>
          <a:prstGeom prst="rect">
            <a:avLst/>
          </a:prstGeom>
          <a:noFill/>
          <a:ln/>
        </p:spPr>
        <p:txBody>
          <a:bodyPr wrap="square" lIns="0" tIns="0" rIns="0" bIns="0" rtlCol="0" anchor="ctr"/>
          <a:lstStyle/>
          <a:p>
            <a:pPr indent="0" marL="0">
              <a:buNone/>
            </a:pPr>
            <a:r>
              <a:rPr lang="en-US" sz="1400" dirty="0">
                <a:solidFill>
                  <a:schemeClr val="tx2"/>
                </a:solidFill>
              </a:rPr>
              <a:t>새로고침·서버 재시작 후 복원 · 후속 질문은 이전 대상 연결 · 새 대화는 분리</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추가 기능 4가지</a:t>
            </a:r>
            <a:endParaRPr lang="en-US" sz="2800" dirty="0"/>
          </a:p>
        </p:txBody>
      </p:sp>
      <p:sp>
        <p:nvSpPr>
          <p:cNvPr id="3" name="card-85"/>
          <p:cNvSpPr/>
          <p:nvPr/>
        </p:nvSpPr>
        <p:spPr>
          <a:xfrm>
            <a:off x="548640" y="1280160"/>
            <a:ext cx="5440680" cy="2286000"/>
          </a:xfrm>
          <a:prstGeom prst="roundRect">
            <a:avLst>
              <a:gd name="adj" fmla="val 4000"/>
            </a:avLst>
          </a:prstGeom>
          <a:solidFill>
            <a:schemeClr val="bg2"/>
          </a:solidFill>
          <a:ln/>
        </p:spPr>
      </p:sp>
      <p:sp>
        <p:nvSpPr>
          <p:cNvPr id="4" name="icon-bg-86"/>
          <p:cNvSpPr/>
          <p:nvPr/>
        </p:nvSpPr>
        <p:spPr>
          <a:xfrm>
            <a:off x="868680" y="1600200"/>
            <a:ext cx="731520" cy="731520"/>
          </a:xfrm>
          <a:prstGeom prst="ellipse">
            <a:avLst/>
          </a:prstGeom>
          <a:solidFill>
            <a:schemeClr val="accent1"/>
          </a:solidFill>
          <a:ln/>
        </p:spPr>
      </p:sp>
      <p:pic>
        <p:nvPicPr>
          <p:cNvPr id="5" name="icon-87" descr="preencoded.png">    </p:cNvPr>
          <p:cNvPicPr>
            <a:picLocks noChangeAspect="1"/>
          </p:cNvPicPr>
          <p:nvPr/>
        </p:nvPicPr>
        <p:blipFill>
          <a:blip r:embed="rId1"/>
          <a:stretch>
            <a:fillRect/>
          </a:stretch>
        </p:blipFill>
        <p:spPr>
          <a:xfrm>
            <a:off x="1058875" y="1790395"/>
            <a:ext cx="351130" cy="351130"/>
          </a:xfrm>
          <a:prstGeom prst="rect">
            <a:avLst/>
          </a:prstGeom>
        </p:spPr>
      </p:pic>
      <p:sp>
        <p:nvSpPr>
          <p:cNvPr id="6" name="txt-88"/>
          <p:cNvSpPr txBox="1"/>
          <p:nvPr/>
        </p:nvSpPr>
        <p:spPr>
          <a:xfrm>
            <a:off x="1828800" y="1691640"/>
            <a:ext cx="3931920" cy="502920"/>
          </a:xfrm>
          <a:prstGeom prst="rect">
            <a:avLst/>
          </a:prstGeom>
          <a:noFill/>
          <a:ln/>
        </p:spPr>
        <p:txBody>
          <a:bodyPr wrap="square" lIns="0" tIns="0" rIns="0" bIns="0" rtlCol="0" anchor="ctr"/>
          <a:lstStyle/>
          <a:p>
            <a:pPr indent="0" marL="0">
              <a:buNone/>
            </a:pPr>
            <a:r>
              <a:rPr lang="en-US" sz="2000" b="1" dirty="0">
                <a:solidFill>
                  <a:schemeClr val="tx1"/>
                </a:solidFill>
              </a:rPr>
              <a:t>근거 기반 진단 보고서</a:t>
            </a:r>
            <a:endParaRPr lang="en-US" sz="2000" dirty="0"/>
          </a:p>
        </p:txBody>
      </p:sp>
      <p:sp>
        <p:nvSpPr>
          <p:cNvPr id="7" name="txt-89"/>
          <p:cNvSpPr txBox="1"/>
          <p:nvPr/>
        </p:nvSpPr>
        <p:spPr>
          <a:xfrm>
            <a:off x="914400" y="2514600"/>
            <a:ext cx="4754880" cy="868680"/>
          </a:xfrm>
          <a:prstGeom prst="rect">
            <a:avLst/>
          </a:prstGeom>
          <a:noFill/>
          <a:ln/>
        </p:spPr>
        <p:txBody>
          <a:bodyPr wrap="square" lIns="0" tIns="0" rIns="0" bIns="0" rtlCol="0" anchor="t"/>
          <a:lstStyle/>
          <a:p>
            <a:pPr indent="0" marL="0">
              <a:buNone/>
            </a:pPr>
            <a:r>
              <a:rPr lang="en-US" sz="1400" dirty="0">
                <a:solidFill>
                  <a:schemeClr val="tx2"/>
                </a:solidFill>
              </a:rPr>
              <a:t>관측값 · 분석 · 권장 조치 · 미확인 사항 · 출처</a:t>
            </a:r>
            <a:endParaRPr lang="en-US" sz="1400" dirty="0"/>
          </a:p>
          <a:p>
            <a:pPr indent="0" marL="0">
              <a:buNone/>
            </a:pPr>
            <a:r>
              <a:rPr lang="en-US" sz="1400" dirty="0">
                <a:solidFill>
                  <a:schemeClr val="tx2"/>
                </a:solidFill>
              </a:rPr>
              <a:t>5개 영역 + 검증 상태 표시</a:t>
            </a:r>
            <a:endParaRPr lang="en-US" sz="1400" dirty="0"/>
          </a:p>
        </p:txBody>
      </p:sp>
      <p:sp>
        <p:nvSpPr>
          <p:cNvPr id="8" name="card-90"/>
          <p:cNvSpPr/>
          <p:nvPr/>
        </p:nvSpPr>
        <p:spPr>
          <a:xfrm>
            <a:off x="6172200" y="1280160"/>
            <a:ext cx="5440680" cy="2286000"/>
          </a:xfrm>
          <a:prstGeom prst="roundRect">
            <a:avLst>
              <a:gd name="adj" fmla="val 4000"/>
            </a:avLst>
          </a:prstGeom>
          <a:solidFill>
            <a:schemeClr val="bg2"/>
          </a:solidFill>
          <a:ln/>
        </p:spPr>
      </p:sp>
      <p:sp>
        <p:nvSpPr>
          <p:cNvPr id="9" name="icon-bg-91"/>
          <p:cNvSpPr/>
          <p:nvPr/>
        </p:nvSpPr>
        <p:spPr>
          <a:xfrm>
            <a:off x="6492240" y="1600200"/>
            <a:ext cx="731520" cy="731520"/>
          </a:xfrm>
          <a:prstGeom prst="ellipse">
            <a:avLst/>
          </a:prstGeom>
          <a:solidFill>
            <a:schemeClr val="accent1"/>
          </a:solidFill>
          <a:ln/>
        </p:spPr>
      </p:sp>
      <p:pic>
        <p:nvPicPr>
          <p:cNvPr id="10" name="icon-92" descr="preencoded.png">    </p:cNvPr>
          <p:cNvPicPr>
            <a:picLocks noChangeAspect="1"/>
          </p:cNvPicPr>
          <p:nvPr/>
        </p:nvPicPr>
        <p:blipFill>
          <a:blip r:embed="rId2"/>
          <a:stretch>
            <a:fillRect/>
          </a:stretch>
        </p:blipFill>
        <p:spPr>
          <a:xfrm>
            <a:off x="6682435" y="1790395"/>
            <a:ext cx="351130" cy="351130"/>
          </a:xfrm>
          <a:prstGeom prst="rect">
            <a:avLst/>
          </a:prstGeom>
        </p:spPr>
      </p:pic>
      <p:sp>
        <p:nvSpPr>
          <p:cNvPr id="11" name="txt-93"/>
          <p:cNvSpPr txBox="1"/>
          <p:nvPr/>
        </p:nvSpPr>
        <p:spPr>
          <a:xfrm>
            <a:off x="7452360" y="1691640"/>
            <a:ext cx="3931920" cy="502920"/>
          </a:xfrm>
          <a:prstGeom prst="rect">
            <a:avLst/>
          </a:prstGeom>
          <a:noFill/>
          <a:ln/>
        </p:spPr>
        <p:txBody>
          <a:bodyPr wrap="square" lIns="0" tIns="0" rIns="0" bIns="0" rtlCol="0" anchor="ctr"/>
          <a:lstStyle/>
          <a:p>
            <a:pPr indent="0" marL="0">
              <a:buNone/>
            </a:pPr>
            <a:r>
              <a:rPr lang="en-US" sz="2000" b="1" dirty="0">
                <a:solidFill>
                  <a:schemeClr val="tx1"/>
                </a:solidFill>
              </a:rPr>
              <a:t>전체 조사 이력</a:t>
            </a:r>
            <a:endParaRPr lang="en-US" sz="2000" dirty="0"/>
          </a:p>
        </p:txBody>
      </p:sp>
      <p:sp>
        <p:nvSpPr>
          <p:cNvPr id="12" name="txt-94"/>
          <p:cNvSpPr txBox="1"/>
          <p:nvPr/>
        </p:nvSpPr>
        <p:spPr>
          <a:xfrm>
            <a:off x="6537960" y="2514600"/>
            <a:ext cx="4754880" cy="868680"/>
          </a:xfrm>
          <a:prstGeom prst="rect">
            <a:avLst/>
          </a:prstGeom>
          <a:noFill/>
          <a:ln/>
        </p:spPr>
        <p:txBody>
          <a:bodyPr wrap="square" lIns="0" tIns="0" rIns="0" bIns="0" rtlCol="0" anchor="t"/>
          <a:lstStyle/>
          <a:p>
            <a:pPr indent="0" marL="0">
              <a:buNone/>
            </a:pPr>
            <a:r>
              <a:rPr lang="en-US" sz="1400" dirty="0">
                <a:solidFill>
                  <a:schemeClr val="tx2"/>
                </a:solidFill>
              </a:rPr>
              <a:t>전체 조사 / 현재 대화 필터 · 더 보기</a:t>
            </a:r>
            <a:endParaRPr lang="en-US" sz="1400" dirty="0"/>
          </a:p>
          <a:p>
            <a:pPr indent="0" marL="0">
              <a:buNone/>
            </a:pPr>
            <a:r>
              <a:rPr lang="en-US" sz="1400" dirty="0">
                <a:solidFill>
                  <a:schemeClr val="tx2"/>
                </a:solidFill>
              </a:rPr>
              <a:t>이전 보고서·근거·처리 과정 재확인</a:t>
            </a:r>
            <a:endParaRPr lang="en-US" sz="1400" dirty="0"/>
          </a:p>
        </p:txBody>
      </p:sp>
      <p:sp>
        <p:nvSpPr>
          <p:cNvPr id="13" name="card-95"/>
          <p:cNvSpPr/>
          <p:nvPr/>
        </p:nvSpPr>
        <p:spPr>
          <a:xfrm>
            <a:off x="548640" y="3794760"/>
            <a:ext cx="5440680" cy="2286000"/>
          </a:xfrm>
          <a:prstGeom prst="roundRect">
            <a:avLst>
              <a:gd name="adj" fmla="val 4000"/>
            </a:avLst>
          </a:prstGeom>
          <a:solidFill>
            <a:schemeClr val="bg2"/>
          </a:solidFill>
          <a:ln/>
        </p:spPr>
      </p:sp>
      <p:sp>
        <p:nvSpPr>
          <p:cNvPr id="14" name="icon-bg-96"/>
          <p:cNvSpPr/>
          <p:nvPr/>
        </p:nvSpPr>
        <p:spPr>
          <a:xfrm>
            <a:off x="868680" y="4114800"/>
            <a:ext cx="731520" cy="731520"/>
          </a:xfrm>
          <a:prstGeom prst="ellipse">
            <a:avLst/>
          </a:prstGeom>
          <a:solidFill>
            <a:schemeClr val="accent1"/>
          </a:solidFill>
          <a:ln/>
        </p:spPr>
      </p:sp>
      <p:pic>
        <p:nvPicPr>
          <p:cNvPr id="15" name="icon-97" descr="preencoded.png">    </p:cNvPr>
          <p:cNvPicPr>
            <a:picLocks noChangeAspect="1"/>
          </p:cNvPicPr>
          <p:nvPr/>
        </p:nvPicPr>
        <p:blipFill>
          <a:blip r:embed="rId3"/>
          <a:stretch>
            <a:fillRect/>
          </a:stretch>
        </p:blipFill>
        <p:spPr>
          <a:xfrm>
            <a:off x="1058875" y="4304995"/>
            <a:ext cx="351130" cy="351130"/>
          </a:xfrm>
          <a:prstGeom prst="rect">
            <a:avLst/>
          </a:prstGeom>
        </p:spPr>
      </p:pic>
      <p:sp>
        <p:nvSpPr>
          <p:cNvPr id="16" name="txt-98"/>
          <p:cNvSpPr txBox="1"/>
          <p:nvPr/>
        </p:nvSpPr>
        <p:spPr>
          <a:xfrm>
            <a:off x="1828800" y="4206240"/>
            <a:ext cx="3931920" cy="502920"/>
          </a:xfrm>
          <a:prstGeom prst="rect">
            <a:avLst/>
          </a:prstGeom>
          <a:noFill/>
          <a:ln/>
        </p:spPr>
        <p:txBody>
          <a:bodyPr wrap="square" lIns="0" tIns="0" rIns="0" bIns="0" rtlCol="0" anchor="ctr"/>
          <a:lstStyle/>
          <a:p>
            <a:pPr indent="0" marL="0">
              <a:buNone/>
            </a:pPr>
            <a:r>
              <a:rPr lang="en-US" sz="2000" b="1" dirty="0">
                <a:solidFill>
                  <a:schemeClr val="tx1"/>
                </a:solidFill>
              </a:rPr>
              <a:t>이전·현재 상태 비교</a:t>
            </a:r>
            <a:endParaRPr lang="en-US" sz="2000" dirty="0"/>
          </a:p>
        </p:txBody>
      </p:sp>
      <p:sp>
        <p:nvSpPr>
          <p:cNvPr id="17" name="txt-99"/>
          <p:cNvSpPr txBox="1"/>
          <p:nvPr/>
        </p:nvSpPr>
        <p:spPr>
          <a:xfrm>
            <a:off x="914400" y="5029200"/>
            <a:ext cx="4754880" cy="868680"/>
          </a:xfrm>
          <a:prstGeom prst="rect">
            <a:avLst/>
          </a:prstGeom>
          <a:noFill/>
          <a:ln/>
        </p:spPr>
        <p:txBody>
          <a:bodyPr wrap="square" lIns="0" tIns="0" rIns="0" bIns="0" rtlCol="0" anchor="t"/>
          <a:lstStyle/>
          <a:p>
            <a:pPr indent="0" marL="0">
              <a:buNone/>
            </a:pPr>
            <a:r>
              <a:rPr lang="en-US" sz="1400" dirty="0">
                <a:solidFill>
                  <a:schemeClr val="tx2"/>
                </a:solidFill>
              </a:rPr>
              <a:t>같은 대화·같은 서비스의 CPU·메모리 변화량</a:t>
            </a:r>
            <a:endParaRPr lang="en-US" sz="1400" dirty="0"/>
          </a:p>
          <a:p>
            <a:pPr indent="0" marL="0">
              <a:buNone/>
            </a:pPr>
            <a:r>
              <a:rPr lang="en-US" sz="1400" dirty="0">
                <a:solidFill>
                  <a:schemeClr val="tx2"/>
                </a:solidFill>
              </a:rPr>
              <a:t>알림 발생·해소 내역</a:t>
            </a:r>
            <a:endParaRPr lang="en-US" sz="1400" dirty="0"/>
          </a:p>
        </p:txBody>
      </p:sp>
      <p:sp>
        <p:nvSpPr>
          <p:cNvPr id="18" name="card-100"/>
          <p:cNvSpPr/>
          <p:nvPr/>
        </p:nvSpPr>
        <p:spPr>
          <a:xfrm>
            <a:off x="6172200" y="3794760"/>
            <a:ext cx="5440680" cy="2286000"/>
          </a:xfrm>
          <a:prstGeom prst="roundRect">
            <a:avLst>
              <a:gd name="adj" fmla="val 4000"/>
            </a:avLst>
          </a:prstGeom>
          <a:solidFill>
            <a:schemeClr val="bg2"/>
          </a:solidFill>
          <a:ln/>
        </p:spPr>
      </p:sp>
      <p:sp>
        <p:nvSpPr>
          <p:cNvPr id="19" name="icon-bg-101"/>
          <p:cNvSpPr/>
          <p:nvPr/>
        </p:nvSpPr>
        <p:spPr>
          <a:xfrm>
            <a:off x="6492240" y="4114800"/>
            <a:ext cx="731520" cy="731520"/>
          </a:xfrm>
          <a:prstGeom prst="ellipse">
            <a:avLst/>
          </a:prstGeom>
          <a:solidFill>
            <a:schemeClr val="accent1"/>
          </a:solidFill>
          <a:ln/>
        </p:spPr>
      </p:sp>
      <p:pic>
        <p:nvPicPr>
          <p:cNvPr id="20" name="icon-102" descr="preencoded.png">    </p:cNvPr>
          <p:cNvPicPr>
            <a:picLocks noChangeAspect="1"/>
          </p:cNvPicPr>
          <p:nvPr/>
        </p:nvPicPr>
        <p:blipFill>
          <a:blip r:embed="rId4"/>
          <a:stretch>
            <a:fillRect/>
          </a:stretch>
        </p:blipFill>
        <p:spPr>
          <a:xfrm>
            <a:off x="6682435" y="4304995"/>
            <a:ext cx="351130" cy="351130"/>
          </a:xfrm>
          <a:prstGeom prst="rect">
            <a:avLst/>
          </a:prstGeom>
        </p:spPr>
      </p:pic>
      <p:sp>
        <p:nvSpPr>
          <p:cNvPr id="21" name="txt-103"/>
          <p:cNvSpPr txBox="1"/>
          <p:nvPr/>
        </p:nvSpPr>
        <p:spPr>
          <a:xfrm>
            <a:off x="7452360" y="4206240"/>
            <a:ext cx="3931920" cy="502920"/>
          </a:xfrm>
          <a:prstGeom prst="rect">
            <a:avLst/>
          </a:prstGeom>
          <a:noFill/>
          <a:ln/>
        </p:spPr>
        <p:txBody>
          <a:bodyPr wrap="square" lIns="0" tIns="0" rIns="0" bIns="0" rtlCol="0" anchor="ctr"/>
          <a:lstStyle/>
          <a:p>
            <a:pPr indent="0" marL="0">
              <a:buNone/>
            </a:pPr>
            <a:r>
              <a:rPr lang="en-US" sz="2000" b="1" dirty="0">
                <a:solidFill>
                  <a:schemeClr val="tx1"/>
                </a:solidFill>
              </a:rPr>
              <a:t>보고서 내보내기</a:t>
            </a:r>
            <a:endParaRPr lang="en-US" sz="2000" dirty="0"/>
          </a:p>
        </p:txBody>
      </p:sp>
      <p:sp>
        <p:nvSpPr>
          <p:cNvPr id="22" name="txt-104"/>
          <p:cNvSpPr txBox="1"/>
          <p:nvPr/>
        </p:nvSpPr>
        <p:spPr>
          <a:xfrm>
            <a:off x="6537960" y="5029200"/>
            <a:ext cx="4754880" cy="868680"/>
          </a:xfrm>
          <a:prstGeom prst="rect">
            <a:avLst/>
          </a:prstGeom>
          <a:noFill/>
          <a:ln/>
        </p:spPr>
        <p:txBody>
          <a:bodyPr wrap="square" lIns="0" tIns="0" rIns="0" bIns="0" rtlCol="0" anchor="t"/>
          <a:lstStyle/>
          <a:p>
            <a:pPr indent="0" marL="0">
              <a:buNone/>
            </a:pPr>
            <a:r>
              <a:rPr lang="en-US" sz="1400" dirty="0">
                <a:solidFill>
                  <a:schemeClr val="tx2"/>
                </a:solidFill>
              </a:rPr>
              <a:t>보고서 · 검증 상태 · 출처 · 상태 비교를</a:t>
            </a:r>
            <a:endParaRPr lang="en-US" sz="1400" dirty="0"/>
          </a:p>
          <a:p>
            <a:pPr indent="0" marL="0">
              <a:buNone/>
            </a:pPr>
            <a:r>
              <a:rPr lang="en-US" sz="1400" dirty="0">
                <a:solidFill>
                  <a:schemeClr val="tx2"/>
                </a:solidFill>
              </a:rPr>
              <a:t>Markdown 파일로 다운로드</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대상 확인부터 근거 검증까지 이어지는 진단 흐름</a:t>
            </a:r>
            <a:endParaRPr lang="en-US" sz="2800" dirty="0"/>
          </a:p>
        </p:txBody>
      </p:sp>
      <p:sp>
        <p:nvSpPr>
          <p:cNvPr id="3" name="flowbox-105"/>
          <p:cNvSpPr/>
          <p:nvPr/>
        </p:nvSpPr>
        <p:spPr>
          <a:xfrm>
            <a:off x="548640" y="2743200"/>
            <a:ext cx="1417320" cy="822960"/>
          </a:xfrm>
          <a:prstGeom prst="roundRect">
            <a:avLst>
              <a:gd name="adj" fmla="val 13333"/>
            </a:avLst>
          </a:prstGeom>
          <a:solidFill>
            <a:schemeClr val="bg2"/>
          </a:solidFill>
          <a:ln/>
        </p:spPr>
      </p:sp>
      <p:sp>
        <p:nvSpPr>
          <p:cNvPr id="4" name="txt-106"/>
          <p:cNvSpPr txBox="1"/>
          <p:nvPr/>
        </p:nvSpPr>
        <p:spPr>
          <a:xfrm>
            <a:off x="548640" y="285292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질문·대상 확인</a:t>
            </a:r>
            <a:endParaRPr lang="en-US" sz="1500" dirty="0"/>
          </a:p>
        </p:txBody>
      </p:sp>
      <p:sp>
        <p:nvSpPr>
          <p:cNvPr id="5" name="txt-107"/>
          <p:cNvSpPr txBox="1"/>
          <p:nvPr/>
        </p:nvSpPr>
        <p:spPr>
          <a:xfrm>
            <a:off x="548640" y="320040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대화별 맥락 연결</a:t>
            </a:r>
            <a:endParaRPr lang="en-US" sz="1100" dirty="0"/>
          </a:p>
        </p:txBody>
      </p:sp>
      <p:sp>
        <p:nvSpPr>
          <p:cNvPr id="6" name="hline-108"/>
          <p:cNvSpPr/>
          <p:nvPr/>
        </p:nvSpPr>
        <p:spPr>
          <a:xfrm>
            <a:off x="1984248" y="3154680"/>
            <a:ext cx="155448" cy="0"/>
          </a:xfrm>
          <a:prstGeom prst="line">
            <a:avLst/>
          </a:prstGeom>
          <a:noFill/>
          <a:ln w="19050">
            <a:solidFill>
              <a:srgbClr val="8A94A6"/>
            </a:solidFill>
            <a:prstDash val="solid"/>
            <a:tailEnd type="triangle"/>
          </a:ln>
        </p:spPr>
      </p:sp>
      <p:sp>
        <p:nvSpPr>
          <p:cNvPr id="7" name="flowbox-109"/>
          <p:cNvSpPr/>
          <p:nvPr/>
        </p:nvSpPr>
        <p:spPr>
          <a:xfrm>
            <a:off x="2157984" y="2743200"/>
            <a:ext cx="1417320" cy="822960"/>
          </a:xfrm>
          <a:prstGeom prst="roundRect">
            <a:avLst>
              <a:gd name="adj" fmla="val 13333"/>
            </a:avLst>
          </a:prstGeom>
          <a:solidFill>
            <a:schemeClr val="bg2"/>
          </a:solidFill>
          <a:ln/>
        </p:spPr>
      </p:sp>
      <p:sp>
        <p:nvSpPr>
          <p:cNvPr id="8" name="txt-110"/>
          <p:cNvSpPr txBox="1"/>
          <p:nvPr/>
        </p:nvSpPr>
        <p:spPr>
          <a:xfrm>
            <a:off x="2157984" y="285292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계획·대상 검증</a:t>
            </a:r>
            <a:endParaRPr lang="en-US" sz="1500" dirty="0"/>
          </a:p>
        </p:txBody>
      </p:sp>
      <p:sp>
        <p:nvSpPr>
          <p:cNvPr id="9" name="txt-111"/>
          <p:cNvSpPr txBox="1"/>
          <p:nvPr/>
        </p:nvSpPr>
        <p:spPr>
          <a:xfrm>
            <a:off x="2157984" y="320040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누락·범위 이탈 방지</a:t>
            </a:r>
            <a:endParaRPr lang="en-US" sz="1100" dirty="0"/>
          </a:p>
        </p:txBody>
      </p:sp>
      <p:sp>
        <p:nvSpPr>
          <p:cNvPr id="10" name="hline-112"/>
          <p:cNvSpPr/>
          <p:nvPr/>
        </p:nvSpPr>
        <p:spPr>
          <a:xfrm>
            <a:off x="3593592" y="3154680"/>
            <a:ext cx="155448" cy="0"/>
          </a:xfrm>
          <a:prstGeom prst="line">
            <a:avLst/>
          </a:prstGeom>
          <a:noFill/>
          <a:ln w="19050">
            <a:solidFill>
              <a:srgbClr val="8A94A6"/>
            </a:solidFill>
            <a:prstDash val="solid"/>
            <a:tailEnd type="triangle"/>
          </a:ln>
        </p:spPr>
      </p:sp>
      <p:sp>
        <p:nvSpPr>
          <p:cNvPr id="11" name="flowbox-113"/>
          <p:cNvSpPr/>
          <p:nvPr/>
        </p:nvSpPr>
        <p:spPr>
          <a:xfrm>
            <a:off x="3767328" y="2743200"/>
            <a:ext cx="1417320" cy="822960"/>
          </a:xfrm>
          <a:prstGeom prst="roundRect">
            <a:avLst>
              <a:gd name="adj" fmla="val 13333"/>
            </a:avLst>
          </a:prstGeom>
          <a:solidFill>
            <a:schemeClr val="accent6"/>
          </a:solidFill>
          <a:ln/>
        </p:spPr>
      </p:sp>
      <p:sp>
        <p:nvSpPr>
          <p:cNvPr id="12" name="txt-114"/>
          <p:cNvSpPr txBox="1"/>
          <p:nvPr/>
        </p:nvSpPr>
        <p:spPr>
          <a:xfrm>
            <a:off x="3767328" y="285292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모니터링 조회</a:t>
            </a:r>
            <a:endParaRPr lang="en-US" sz="1500" dirty="0"/>
          </a:p>
        </p:txBody>
      </p:sp>
      <p:sp>
        <p:nvSpPr>
          <p:cNvPr id="13" name="txt-115"/>
          <p:cNvSpPr txBox="1"/>
          <p:nvPr/>
        </p:nvSpPr>
        <p:spPr>
          <a:xfrm>
            <a:off x="3767328" y="320040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MCP Tool · 병렬 조사</a:t>
            </a:r>
            <a:endParaRPr lang="en-US" sz="1100" dirty="0"/>
          </a:p>
        </p:txBody>
      </p:sp>
      <p:sp>
        <p:nvSpPr>
          <p:cNvPr id="14" name="hline-116"/>
          <p:cNvSpPr/>
          <p:nvPr/>
        </p:nvSpPr>
        <p:spPr>
          <a:xfrm>
            <a:off x="5202936" y="3154680"/>
            <a:ext cx="155448" cy="0"/>
          </a:xfrm>
          <a:prstGeom prst="line">
            <a:avLst/>
          </a:prstGeom>
          <a:noFill/>
          <a:ln w="19050">
            <a:solidFill>
              <a:srgbClr val="8A94A6"/>
            </a:solidFill>
            <a:prstDash val="solid"/>
            <a:tailEnd type="triangle"/>
          </a:ln>
        </p:spPr>
      </p:sp>
      <p:sp>
        <p:nvSpPr>
          <p:cNvPr id="15" name="flowbox-117"/>
          <p:cNvSpPr/>
          <p:nvPr/>
        </p:nvSpPr>
        <p:spPr>
          <a:xfrm>
            <a:off x="5376672" y="2743200"/>
            <a:ext cx="1417320" cy="822960"/>
          </a:xfrm>
          <a:prstGeom prst="roundRect">
            <a:avLst>
              <a:gd name="adj" fmla="val 13333"/>
            </a:avLst>
          </a:prstGeom>
          <a:solidFill>
            <a:schemeClr val="accent6"/>
          </a:solidFill>
          <a:ln/>
        </p:spPr>
      </p:sp>
      <p:sp>
        <p:nvSpPr>
          <p:cNvPr id="16" name="txt-118"/>
          <p:cNvSpPr txBox="1"/>
          <p:nvPr/>
        </p:nvSpPr>
        <p:spPr>
          <a:xfrm>
            <a:off x="5376672" y="285292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매뉴얼 선택·조회</a:t>
            </a:r>
            <a:endParaRPr lang="en-US" sz="1500" dirty="0"/>
          </a:p>
        </p:txBody>
      </p:sp>
      <p:sp>
        <p:nvSpPr>
          <p:cNvPr id="17" name="txt-119"/>
          <p:cNvSpPr txBox="1"/>
          <p:nvPr/>
        </p:nvSpPr>
        <p:spPr>
          <a:xfrm>
            <a:off x="5376672" y="320040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서비스별 선택 · 보완 1회</a:t>
            </a:r>
            <a:endParaRPr lang="en-US" sz="1100" dirty="0"/>
          </a:p>
        </p:txBody>
      </p:sp>
      <p:sp>
        <p:nvSpPr>
          <p:cNvPr id="18" name="hline-120"/>
          <p:cNvSpPr/>
          <p:nvPr/>
        </p:nvSpPr>
        <p:spPr>
          <a:xfrm>
            <a:off x="6812280" y="3154680"/>
            <a:ext cx="155448" cy="0"/>
          </a:xfrm>
          <a:prstGeom prst="line">
            <a:avLst/>
          </a:prstGeom>
          <a:noFill/>
          <a:ln w="19050">
            <a:solidFill>
              <a:srgbClr val="8A94A6"/>
            </a:solidFill>
            <a:prstDash val="solid"/>
            <a:tailEnd type="triangle"/>
          </a:ln>
        </p:spPr>
      </p:sp>
      <p:sp>
        <p:nvSpPr>
          <p:cNvPr id="19" name="flowbox-121"/>
          <p:cNvSpPr/>
          <p:nvPr/>
        </p:nvSpPr>
        <p:spPr>
          <a:xfrm>
            <a:off x="6986016" y="2743200"/>
            <a:ext cx="1417320" cy="822960"/>
          </a:xfrm>
          <a:prstGeom prst="roundRect">
            <a:avLst>
              <a:gd name="adj" fmla="val 13333"/>
            </a:avLst>
          </a:prstGeom>
          <a:solidFill>
            <a:schemeClr val="bg2"/>
          </a:solidFill>
          <a:ln/>
        </p:spPr>
      </p:sp>
      <p:sp>
        <p:nvSpPr>
          <p:cNvPr id="20" name="txt-122"/>
          <p:cNvSpPr txBox="1"/>
          <p:nvPr/>
        </p:nvSpPr>
        <p:spPr>
          <a:xfrm>
            <a:off x="6986016" y="285292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진단 초안 작성</a:t>
            </a:r>
            <a:endParaRPr lang="en-US" sz="1500" dirty="0"/>
          </a:p>
        </p:txBody>
      </p:sp>
      <p:sp>
        <p:nvSpPr>
          <p:cNvPr id="21" name="txt-123"/>
          <p:cNvSpPr txBox="1"/>
          <p:nvPr/>
        </p:nvSpPr>
        <p:spPr>
          <a:xfrm>
            <a:off x="6986016" y="320040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필요 시 비교 분석 후</a:t>
            </a:r>
            <a:endParaRPr lang="en-US" sz="1100" dirty="0"/>
          </a:p>
        </p:txBody>
      </p:sp>
      <p:sp>
        <p:nvSpPr>
          <p:cNvPr id="22" name="hline-124"/>
          <p:cNvSpPr/>
          <p:nvPr/>
        </p:nvSpPr>
        <p:spPr>
          <a:xfrm>
            <a:off x="8421624" y="3154680"/>
            <a:ext cx="155448" cy="0"/>
          </a:xfrm>
          <a:prstGeom prst="line">
            <a:avLst/>
          </a:prstGeom>
          <a:noFill/>
          <a:ln w="19050">
            <a:solidFill>
              <a:srgbClr val="8A94A6"/>
            </a:solidFill>
            <a:prstDash val="solid"/>
            <a:tailEnd type="triangle"/>
          </a:ln>
        </p:spPr>
      </p:sp>
      <p:sp>
        <p:nvSpPr>
          <p:cNvPr id="23" name="flowbox-125"/>
          <p:cNvSpPr/>
          <p:nvPr/>
        </p:nvSpPr>
        <p:spPr>
          <a:xfrm>
            <a:off x="8595360" y="2743200"/>
            <a:ext cx="1417320" cy="822960"/>
          </a:xfrm>
          <a:prstGeom prst="roundRect">
            <a:avLst>
              <a:gd name="adj" fmla="val 13333"/>
            </a:avLst>
          </a:prstGeom>
          <a:solidFill>
            <a:schemeClr val="accent6"/>
          </a:solidFill>
          <a:ln/>
        </p:spPr>
      </p:sp>
      <p:sp>
        <p:nvSpPr>
          <p:cNvPr id="24" name="txt-126"/>
          <p:cNvSpPr txBox="1"/>
          <p:nvPr/>
        </p:nvSpPr>
        <p:spPr>
          <a:xfrm>
            <a:off x="8595360" y="285292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근거 검증</a:t>
            </a:r>
            <a:endParaRPr lang="en-US" sz="1500" dirty="0"/>
          </a:p>
        </p:txBody>
      </p:sp>
      <p:sp>
        <p:nvSpPr>
          <p:cNvPr id="25" name="txt-127"/>
          <p:cNvSpPr txBox="1"/>
          <p:nvPr/>
        </p:nvSpPr>
        <p:spPr>
          <a:xfrm>
            <a:off x="8595360" y="320040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대상·수치·출처·조치</a:t>
            </a:r>
            <a:endParaRPr lang="en-US" sz="1100" dirty="0"/>
          </a:p>
        </p:txBody>
      </p:sp>
      <p:sp>
        <p:nvSpPr>
          <p:cNvPr id="26" name="hline-128"/>
          <p:cNvSpPr/>
          <p:nvPr/>
        </p:nvSpPr>
        <p:spPr>
          <a:xfrm>
            <a:off x="10030968" y="3154680"/>
            <a:ext cx="155448" cy="0"/>
          </a:xfrm>
          <a:prstGeom prst="line">
            <a:avLst/>
          </a:prstGeom>
          <a:noFill/>
          <a:ln w="19050">
            <a:solidFill>
              <a:srgbClr val="8A94A6"/>
            </a:solidFill>
            <a:prstDash val="solid"/>
            <a:tailEnd type="triangle"/>
          </a:ln>
        </p:spPr>
      </p:sp>
      <p:sp>
        <p:nvSpPr>
          <p:cNvPr id="27" name="flowbox-129"/>
          <p:cNvSpPr/>
          <p:nvPr/>
        </p:nvSpPr>
        <p:spPr>
          <a:xfrm>
            <a:off x="10204704" y="2743200"/>
            <a:ext cx="1417320" cy="822960"/>
          </a:xfrm>
          <a:prstGeom prst="roundRect">
            <a:avLst>
              <a:gd name="adj" fmla="val 13333"/>
            </a:avLst>
          </a:prstGeom>
          <a:solidFill>
            <a:schemeClr val="accent1"/>
          </a:solidFill>
          <a:ln/>
        </p:spPr>
      </p:sp>
      <p:sp>
        <p:nvSpPr>
          <p:cNvPr id="28" name="txt-130"/>
          <p:cNvSpPr txBox="1"/>
          <p:nvPr/>
        </p:nvSpPr>
        <p:spPr>
          <a:xfrm>
            <a:off x="10204704" y="2852928"/>
            <a:ext cx="1417320" cy="347472"/>
          </a:xfrm>
          <a:prstGeom prst="rect">
            <a:avLst/>
          </a:prstGeom>
          <a:noFill/>
          <a:ln/>
        </p:spPr>
        <p:txBody>
          <a:bodyPr wrap="square" lIns="0" tIns="0" rIns="0" bIns="0" rtlCol="0" anchor="ctr"/>
          <a:lstStyle/>
          <a:p>
            <a:pPr algn="ctr" indent="0" marL="0">
              <a:buNone/>
            </a:pPr>
            <a:r>
              <a:rPr lang="en-US" sz="1500" b="1" dirty="0">
                <a:solidFill>
                  <a:schemeClr val="bg1"/>
                </a:solidFill>
              </a:rPr>
              <a:t>최종 보고서</a:t>
            </a:r>
            <a:endParaRPr lang="en-US" sz="1500" dirty="0"/>
          </a:p>
        </p:txBody>
      </p:sp>
      <p:sp>
        <p:nvSpPr>
          <p:cNvPr id="29" name="txt-131"/>
          <p:cNvSpPr txBox="1"/>
          <p:nvPr/>
        </p:nvSpPr>
        <p:spPr>
          <a:xfrm>
            <a:off x="10204704" y="3200400"/>
            <a:ext cx="1417320" cy="274320"/>
          </a:xfrm>
          <a:prstGeom prst="rect">
            <a:avLst/>
          </a:prstGeom>
          <a:noFill/>
          <a:ln/>
        </p:spPr>
        <p:txBody>
          <a:bodyPr wrap="square" lIns="0" tIns="0" rIns="0" bIns="0" rtlCol="0" anchor="ctr"/>
          <a:lstStyle/>
          <a:p>
            <a:pPr algn="ctr" indent="0" marL="0">
              <a:buNone/>
            </a:pPr>
            <a:r>
              <a:rPr lang="en-US" sz="1100" dirty="0">
                <a:solidFill>
                  <a:srgbClr val="D6F0EC"/>
                </a:solidFill>
              </a:rPr>
              <a:t>이력·비교·내보내기</a:t>
            </a:r>
            <a:endParaRPr lang="en-US" sz="1100" dirty="0"/>
          </a:p>
        </p:txBody>
      </p:sp>
      <p:sp>
        <p:nvSpPr>
          <p:cNvPr id="30" name="txt-132"/>
          <p:cNvSpPr txBox="1"/>
          <p:nvPr/>
        </p:nvSpPr>
        <p:spPr>
          <a:xfrm>
            <a:off x="9742932" y="2414016"/>
            <a:ext cx="731520" cy="274320"/>
          </a:xfrm>
          <a:prstGeom prst="rect">
            <a:avLst/>
          </a:prstGeom>
          <a:noFill/>
          <a:ln/>
        </p:spPr>
        <p:txBody>
          <a:bodyPr wrap="square" lIns="0" tIns="0" rIns="0" bIns="0" rtlCol="0" anchor="t"/>
          <a:lstStyle/>
          <a:p>
            <a:pPr algn="ctr" indent="0" marL="0">
              <a:buNone/>
            </a:pPr>
            <a:r>
              <a:rPr lang="en-US" sz="1300" b="1" dirty="0">
                <a:solidFill>
                  <a:schemeClr val="accent1"/>
                </a:solidFill>
              </a:rPr>
              <a:t>통과</a:t>
            </a:r>
            <a:endParaRPr lang="en-US" sz="1300" dirty="0"/>
          </a:p>
        </p:txBody>
      </p:sp>
      <p:sp>
        <p:nvSpPr>
          <p:cNvPr id="31" name="flowbox-133"/>
          <p:cNvSpPr/>
          <p:nvPr/>
        </p:nvSpPr>
        <p:spPr>
          <a:xfrm>
            <a:off x="548640" y="1325880"/>
            <a:ext cx="1417320" cy="777240"/>
          </a:xfrm>
          <a:prstGeom prst="roundRect">
            <a:avLst>
              <a:gd name="adj" fmla="val 14118"/>
            </a:avLst>
          </a:prstGeom>
          <a:solidFill>
            <a:schemeClr val="bg2"/>
          </a:solidFill>
          <a:ln/>
        </p:spPr>
      </p:sp>
      <p:sp>
        <p:nvSpPr>
          <p:cNvPr id="32" name="txt-134"/>
          <p:cNvSpPr txBox="1"/>
          <p:nvPr/>
        </p:nvSpPr>
        <p:spPr>
          <a:xfrm>
            <a:off x="548640" y="143560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대상 확인 안내</a:t>
            </a:r>
            <a:endParaRPr lang="en-US" sz="1500" dirty="0"/>
          </a:p>
        </p:txBody>
      </p:sp>
      <p:sp>
        <p:nvSpPr>
          <p:cNvPr id="33" name="txt-135"/>
          <p:cNvSpPr txBox="1"/>
          <p:nvPr/>
        </p:nvSpPr>
        <p:spPr>
          <a:xfrm>
            <a:off x="548640" y="178308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미지정 · 미등록 서비스</a:t>
            </a:r>
            <a:endParaRPr lang="en-US" sz="1100" dirty="0"/>
          </a:p>
        </p:txBody>
      </p:sp>
      <p:sp>
        <p:nvSpPr>
          <p:cNvPr id="34" name="flowbox-136"/>
          <p:cNvSpPr/>
          <p:nvPr/>
        </p:nvSpPr>
        <p:spPr>
          <a:xfrm>
            <a:off x="2157984" y="1325880"/>
            <a:ext cx="1417320" cy="777240"/>
          </a:xfrm>
          <a:prstGeom prst="roundRect">
            <a:avLst>
              <a:gd name="adj" fmla="val 14118"/>
            </a:avLst>
          </a:prstGeom>
          <a:solidFill>
            <a:schemeClr val="bg2"/>
          </a:solidFill>
          <a:ln/>
        </p:spPr>
      </p:sp>
      <p:sp>
        <p:nvSpPr>
          <p:cNvPr id="35" name="txt-137"/>
          <p:cNvSpPr txBox="1"/>
          <p:nvPr/>
        </p:nvSpPr>
        <p:spPr>
          <a:xfrm>
            <a:off x="2157984" y="1435608"/>
            <a:ext cx="1417320" cy="347472"/>
          </a:xfrm>
          <a:prstGeom prst="rect">
            <a:avLst/>
          </a:prstGeom>
          <a:noFill/>
          <a:ln/>
        </p:spPr>
        <p:txBody>
          <a:bodyPr wrap="square" lIns="0" tIns="0" rIns="0" bIns="0" rtlCol="0" anchor="ctr"/>
          <a:lstStyle/>
          <a:p>
            <a:pPr algn="ctr" indent="0" marL="0">
              <a:buNone/>
            </a:pPr>
            <a:r>
              <a:rPr lang="en-US" sz="1500" b="1" dirty="0">
                <a:solidFill>
                  <a:schemeClr val="tx1"/>
                </a:solidFill>
              </a:rPr>
              <a:t>일반 대화 응답</a:t>
            </a:r>
            <a:endParaRPr lang="en-US" sz="1500" dirty="0"/>
          </a:p>
        </p:txBody>
      </p:sp>
      <p:sp>
        <p:nvSpPr>
          <p:cNvPr id="36" name="txt-138"/>
          <p:cNvSpPr txBox="1"/>
          <p:nvPr/>
        </p:nvSpPr>
        <p:spPr>
          <a:xfrm>
            <a:off x="2157984" y="1783080"/>
            <a:ext cx="1417320" cy="274320"/>
          </a:xfrm>
          <a:prstGeom prst="rect">
            <a:avLst/>
          </a:prstGeom>
          <a:noFill/>
          <a:ln/>
        </p:spPr>
        <p:txBody>
          <a:bodyPr wrap="square" lIns="0" tIns="0" rIns="0" bIns="0" rtlCol="0" anchor="ctr"/>
          <a:lstStyle/>
          <a:p>
            <a:pPr algn="ctr" indent="0" marL="0">
              <a:buNone/>
            </a:pPr>
            <a:r>
              <a:rPr lang="en-US" sz="1100" dirty="0">
                <a:solidFill>
                  <a:schemeClr val="tx2"/>
                </a:solidFill>
              </a:rPr>
              <a:t>조사 없이 답변</a:t>
            </a:r>
            <a:endParaRPr lang="en-US" sz="1100" dirty="0"/>
          </a:p>
        </p:txBody>
      </p:sp>
      <p:sp>
        <p:nvSpPr>
          <p:cNvPr id="37" name="vline-139"/>
          <p:cNvSpPr/>
          <p:nvPr/>
        </p:nvSpPr>
        <p:spPr>
          <a:xfrm>
            <a:off x="960120" y="2130552"/>
            <a:ext cx="0" cy="594360"/>
          </a:xfrm>
          <a:prstGeom prst="line">
            <a:avLst/>
          </a:prstGeom>
          <a:noFill/>
          <a:ln w="19050">
            <a:solidFill>
              <a:srgbClr val="8A94A6"/>
            </a:solidFill>
            <a:prstDash val="solid"/>
            <a:headEnd type="triangle"/>
          </a:ln>
        </p:spPr>
      </p:sp>
      <p:sp>
        <p:nvSpPr>
          <p:cNvPr id="38" name="vline-140"/>
          <p:cNvSpPr/>
          <p:nvPr/>
        </p:nvSpPr>
        <p:spPr>
          <a:xfrm>
            <a:off x="1463040" y="2395728"/>
            <a:ext cx="0" cy="329184"/>
          </a:xfrm>
          <a:prstGeom prst="line">
            <a:avLst/>
          </a:prstGeom>
          <a:noFill/>
          <a:ln w="19050">
            <a:solidFill>
              <a:srgbClr val="8A94A6"/>
            </a:solidFill>
            <a:prstDash val="solid"/>
          </a:ln>
        </p:spPr>
      </p:sp>
      <p:sp>
        <p:nvSpPr>
          <p:cNvPr id="39" name="hline-141"/>
          <p:cNvSpPr/>
          <p:nvPr/>
        </p:nvSpPr>
        <p:spPr>
          <a:xfrm>
            <a:off x="1463040" y="2395728"/>
            <a:ext cx="1403604" cy="0"/>
          </a:xfrm>
          <a:prstGeom prst="line">
            <a:avLst/>
          </a:prstGeom>
          <a:noFill/>
          <a:ln w="19050">
            <a:solidFill>
              <a:srgbClr val="8A94A6"/>
            </a:solidFill>
            <a:prstDash val="solid"/>
          </a:ln>
        </p:spPr>
      </p:sp>
      <p:sp>
        <p:nvSpPr>
          <p:cNvPr id="40" name="vline-142"/>
          <p:cNvSpPr/>
          <p:nvPr/>
        </p:nvSpPr>
        <p:spPr>
          <a:xfrm>
            <a:off x="2866644" y="2130552"/>
            <a:ext cx="0" cy="265176"/>
          </a:xfrm>
          <a:prstGeom prst="line">
            <a:avLst/>
          </a:prstGeom>
          <a:noFill/>
          <a:ln w="19050">
            <a:solidFill>
              <a:srgbClr val="8A94A6"/>
            </a:solidFill>
            <a:prstDash val="solid"/>
            <a:headEnd type="triangle"/>
          </a:ln>
        </p:spPr>
      </p:sp>
      <p:sp>
        <p:nvSpPr>
          <p:cNvPr id="41" name="vline-143"/>
          <p:cNvSpPr/>
          <p:nvPr/>
        </p:nvSpPr>
        <p:spPr>
          <a:xfrm>
            <a:off x="8915400" y="3584448"/>
            <a:ext cx="0" cy="347472"/>
          </a:xfrm>
          <a:prstGeom prst="line">
            <a:avLst/>
          </a:prstGeom>
          <a:noFill/>
          <a:ln w="19050">
            <a:solidFill>
              <a:schemeClr val="accent1"/>
            </a:solidFill>
            <a:prstDash val="solid"/>
          </a:ln>
        </p:spPr>
      </p:sp>
      <p:sp>
        <p:nvSpPr>
          <p:cNvPr id="42" name="hline-144"/>
          <p:cNvSpPr/>
          <p:nvPr/>
        </p:nvSpPr>
        <p:spPr>
          <a:xfrm>
            <a:off x="7694676" y="3931920"/>
            <a:ext cx="1220724" cy="0"/>
          </a:xfrm>
          <a:prstGeom prst="line">
            <a:avLst/>
          </a:prstGeom>
          <a:noFill/>
          <a:ln w="19050">
            <a:solidFill>
              <a:schemeClr val="accent1"/>
            </a:solidFill>
            <a:prstDash val="solid"/>
          </a:ln>
        </p:spPr>
      </p:sp>
      <p:sp>
        <p:nvSpPr>
          <p:cNvPr id="43" name="vline-145"/>
          <p:cNvSpPr/>
          <p:nvPr/>
        </p:nvSpPr>
        <p:spPr>
          <a:xfrm>
            <a:off x="7694676" y="3584448"/>
            <a:ext cx="0" cy="347472"/>
          </a:xfrm>
          <a:prstGeom prst="line">
            <a:avLst/>
          </a:prstGeom>
          <a:noFill/>
          <a:ln w="19050">
            <a:solidFill>
              <a:schemeClr val="accent1"/>
            </a:solidFill>
            <a:prstDash val="solid"/>
            <a:headEnd type="triangle"/>
          </a:ln>
        </p:spPr>
      </p:sp>
      <p:sp>
        <p:nvSpPr>
          <p:cNvPr id="44" name="txt-146"/>
          <p:cNvSpPr txBox="1"/>
          <p:nvPr/>
        </p:nvSpPr>
        <p:spPr>
          <a:xfrm>
            <a:off x="7168896" y="4023360"/>
            <a:ext cx="2377440" cy="292608"/>
          </a:xfrm>
          <a:prstGeom prst="rect">
            <a:avLst/>
          </a:prstGeom>
          <a:noFill/>
          <a:ln/>
        </p:spPr>
        <p:txBody>
          <a:bodyPr wrap="square" lIns="0" tIns="0" rIns="0" bIns="0" rtlCol="0" anchor="t"/>
          <a:lstStyle/>
          <a:p>
            <a:pPr algn="ctr" indent="0" marL="0">
              <a:buNone/>
            </a:pPr>
            <a:r>
              <a:rPr lang="en-US" sz="1400" b="1" dirty="0">
                <a:solidFill>
                  <a:schemeClr val="accent1"/>
                </a:solidFill>
              </a:rPr>
              <a:t>반려 → 재작성 1회</a:t>
            </a:r>
            <a:endParaRPr lang="en-US" sz="1400" dirty="0"/>
          </a:p>
        </p:txBody>
      </p:sp>
      <p:sp>
        <p:nvSpPr>
          <p:cNvPr id="45" name="txt-147"/>
          <p:cNvSpPr txBox="1"/>
          <p:nvPr/>
        </p:nvSpPr>
        <p:spPr>
          <a:xfrm>
            <a:off x="7168896" y="4315968"/>
            <a:ext cx="2377440" cy="237744"/>
          </a:xfrm>
          <a:prstGeom prst="rect">
            <a:avLst/>
          </a:prstGeom>
          <a:noFill/>
          <a:ln/>
        </p:spPr>
        <p:txBody>
          <a:bodyPr wrap="square" lIns="0" tIns="0" rIns="0" bIns="0" rtlCol="0" anchor="t"/>
          <a:lstStyle/>
          <a:p>
            <a:pPr algn="ctr" indent="0" marL="0">
              <a:buNone/>
            </a:pPr>
            <a:r>
              <a:rPr lang="en-US" sz="1100" dirty="0">
                <a:solidFill>
                  <a:schemeClr val="tx2"/>
                </a:solidFill>
              </a:rPr>
              <a:t>총 2회 작성</a:t>
            </a:r>
            <a:endParaRPr lang="en-US" sz="1100" dirty="0"/>
          </a:p>
        </p:txBody>
      </p:sp>
      <p:sp>
        <p:nvSpPr>
          <p:cNvPr id="46" name="failbox-148"/>
          <p:cNvSpPr/>
          <p:nvPr/>
        </p:nvSpPr>
        <p:spPr>
          <a:xfrm>
            <a:off x="8595360" y="4846320"/>
            <a:ext cx="3026664" cy="731520"/>
          </a:xfrm>
          <a:prstGeom prst="roundRect">
            <a:avLst>
              <a:gd name="adj" fmla="val 15000"/>
            </a:avLst>
          </a:prstGeom>
          <a:solidFill>
            <a:srgbClr val="FBEAE8"/>
          </a:solidFill>
          <a:ln/>
        </p:spPr>
      </p:sp>
      <p:sp>
        <p:nvSpPr>
          <p:cNvPr id="47" name="txt-149"/>
          <p:cNvSpPr txBox="1"/>
          <p:nvPr/>
        </p:nvSpPr>
        <p:spPr>
          <a:xfrm>
            <a:off x="8595360" y="4937760"/>
            <a:ext cx="3026664" cy="329184"/>
          </a:xfrm>
          <a:prstGeom prst="rect">
            <a:avLst/>
          </a:prstGeom>
          <a:noFill/>
          <a:ln/>
        </p:spPr>
        <p:txBody>
          <a:bodyPr wrap="square" lIns="0" tIns="0" rIns="0" bIns="0" rtlCol="0" anchor="ctr"/>
          <a:lstStyle/>
          <a:p>
            <a:pPr algn="ctr" indent="0" marL="0">
              <a:buNone/>
            </a:pPr>
            <a:r>
              <a:rPr lang="en-US" sz="1500" b="1" dirty="0">
                <a:solidFill>
                  <a:schemeClr val="accent3"/>
                </a:solidFill>
              </a:rPr>
              <a:t>미통과 · 확인 근거와 한계 안내</a:t>
            </a:r>
            <a:endParaRPr lang="en-US" sz="1500" dirty="0"/>
          </a:p>
        </p:txBody>
      </p:sp>
      <p:sp>
        <p:nvSpPr>
          <p:cNvPr id="48" name="txt-150"/>
          <p:cNvSpPr txBox="1"/>
          <p:nvPr/>
        </p:nvSpPr>
        <p:spPr>
          <a:xfrm>
            <a:off x="8595360" y="5266944"/>
            <a:ext cx="3026664" cy="237744"/>
          </a:xfrm>
          <a:prstGeom prst="rect">
            <a:avLst/>
          </a:prstGeom>
          <a:noFill/>
          <a:ln/>
        </p:spPr>
        <p:txBody>
          <a:bodyPr wrap="square" lIns="0" tIns="0" rIns="0" bIns="0" rtlCol="0" anchor="ctr"/>
          <a:lstStyle/>
          <a:p>
            <a:pPr algn="ctr" indent="0" marL="0">
              <a:buNone/>
            </a:pPr>
            <a:r>
              <a:rPr lang="en-US" sz="1100" dirty="0">
                <a:solidFill>
                  <a:schemeClr val="accent3"/>
                </a:solidFill>
              </a:rPr>
              <a:t>검증되지 않은 진단·조치는 최종 보고서에서 제외</a:t>
            </a:r>
            <a:endParaRPr lang="en-US" sz="1100" dirty="0"/>
          </a:p>
        </p:txBody>
      </p:sp>
      <p:sp>
        <p:nvSpPr>
          <p:cNvPr id="49" name="vline-151"/>
          <p:cNvSpPr/>
          <p:nvPr/>
        </p:nvSpPr>
        <p:spPr>
          <a:xfrm>
            <a:off x="9646920" y="3584448"/>
            <a:ext cx="0" cy="1243584"/>
          </a:xfrm>
          <a:prstGeom prst="line">
            <a:avLst/>
          </a:prstGeom>
          <a:noFill/>
          <a:ln w="19050">
            <a:solidFill>
              <a:schemeClr val="accent3"/>
            </a:solidFill>
            <a:prstDash val="solid"/>
            <a:tailEnd type="triangle"/>
          </a:ln>
        </p:spPr>
      </p:sp>
      <p:sp>
        <p:nvSpPr>
          <p:cNvPr id="50" name="vline-152"/>
          <p:cNvSpPr/>
          <p:nvPr/>
        </p:nvSpPr>
        <p:spPr>
          <a:xfrm>
            <a:off x="6085332" y="3584448"/>
            <a:ext cx="0" cy="1627632"/>
          </a:xfrm>
          <a:prstGeom prst="line">
            <a:avLst/>
          </a:prstGeom>
          <a:noFill/>
          <a:ln w="19050">
            <a:solidFill>
              <a:schemeClr val="accent3"/>
            </a:solidFill>
            <a:prstDash val="solid"/>
          </a:ln>
        </p:spPr>
      </p:sp>
      <p:sp>
        <p:nvSpPr>
          <p:cNvPr id="51" name="hline-153"/>
          <p:cNvSpPr/>
          <p:nvPr/>
        </p:nvSpPr>
        <p:spPr>
          <a:xfrm>
            <a:off x="6085332" y="5212080"/>
            <a:ext cx="2491740" cy="0"/>
          </a:xfrm>
          <a:prstGeom prst="line">
            <a:avLst/>
          </a:prstGeom>
          <a:noFill/>
          <a:ln w="19050">
            <a:solidFill>
              <a:schemeClr val="accent3"/>
            </a:solidFill>
            <a:prstDash val="solid"/>
            <a:tailEnd type="triangle"/>
          </a:ln>
        </p:spPr>
      </p:sp>
      <p:sp>
        <p:nvSpPr>
          <p:cNvPr id="52" name="txt-154"/>
          <p:cNvSpPr txBox="1"/>
          <p:nvPr/>
        </p:nvSpPr>
        <p:spPr>
          <a:xfrm>
            <a:off x="6176772" y="4572000"/>
            <a:ext cx="2327148" cy="274320"/>
          </a:xfrm>
          <a:prstGeom prst="rect">
            <a:avLst/>
          </a:prstGeom>
          <a:noFill/>
          <a:ln/>
        </p:spPr>
        <p:txBody>
          <a:bodyPr wrap="square" lIns="0" tIns="0" rIns="0" bIns="0" rtlCol="0" anchor="t"/>
          <a:lstStyle/>
          <a:p>
            <a:pPr algn="ctr" indent="0" marL="0">
              <a:buNone/>
            </a:pPr>
            <a:r>
              <a:rPr lang="en-US" sz="1300" b="1" dirty="0">
                <a:solidFill>
                  <a:schemeClr val="accent3"/>
                </a:solidFill>
              </a:rPr>
              <a:t>관측 근거 없음</a:t>
            </a:r>
            <a:endParaRPr lang="en-US" sz="1300" dirty="0"/>
          </a:p>
        </p:txBody>
      </p:sp>
      <p:sp>
        <p:nvSpPr>
          <p:cNvPr id="53" name="txt-155"/>
          <p:cNvSpPr txBox="1"/>
          <p:nvPr/>
        </p:nvSpPr>
        <p:spPr>
          <a:xfrm>
            <a:off x="6176772" y="4864608"/>
            <a:ext cx="2327148" cy="256032"/>
          </a:xfrm>
          <a:prstGeom prst="rect">
            <a:avLst/>
          </a:prstGeom>
          <a:noFill/>
          <a:ln/>
        </p:spPr>
        <p:txBody>
          <a:bodyPr wrap="square" lIns="0" tIns="0" rIns="0" bIns="0" rtlCol="0" anchor="t"/>
          <a:lstStyle/>
          <a:p>
            <a:pPr algn="ctr" indent="0" marL="0">
              <a:buNone/>
            </a:pPr>
            <a:r>
              <a:rPr lang="en-US" sz="1200" dirty="0">
                <a:solidFill>
                  <a:schemeClr val="accent3"/>
                </a:solidFill>
              </a:rPr>
              <a:t>LLM 작성 생략</a:t>
            </a:r>
            <a:endParaRPr lang="en-US" sz="1200" dirty="0"/>
          </a:p>
        </p:txBody>
      </p:sp>
      <p:sp>
        <p:nvSpPr>
          <p:cNvPr id="54" name="hline-156"/>
          <p:cNvSpPr/>
          <p:nvPr/>
        </p:nvSpPr>
        <p:spPr>
          <a:xfrm>
            <a:off x="11640312" y="5212080"/>
            <a:ext cx="228600" cy="0"/>
          </a:xfrm>
          <a:prstGeom prst="line">
            <a:avLst/>
          </a:prstGeom>
          <a:noFill/>
          <a:ln w="19050">
            <a:solidFill>
              <a:schemeClr val="accent3"/>
            </a:solidFill>
            <a:prstDash val="solid"/>
          </a:ln>
        </p:spPr>
      </p:sp>
      <p:sp>
        <p:nvSpPr>
          <p:cNvPr id="55" name="vline-157"/>
          <p:cNvSpPr/>
          <p:nvPr/>
        </p:nvSpPr>
        <p:spPr>
          <a:xfrm>
            <a:off x="11868912" y="3931920"/>
            <a:ext cx="0" cy="1280160"/>
          </a:xfrm>
          <a:prstGeom prst="line">
            <a:avLst/>
          </a:prstGeom>
          <a:noFill/>
          <a:ln w="19050">
            <a:solidFill>
              <a:schemeClr val="accent3"/>
            </a:solidFill>
            <a:prstDash val="solid"/>
          </a:ln>
        </p:spPr>
      </p:sp>
      <p:sp>
        <p:nvSpPr>
          <p:cNvPr id="56" name="hline-158"/>
          <p:cNvSpPr/>
          <p:nvPr/>
        </p:nvSpPr>
        <p:spPr>
          <a:xfrm>
            <a:off x="10913364" y="3931920"/>
            <a:ext cx="955548" cy="0"/>
          </a:xfrm>
          <a:prstGeom prst="line">
            <a:avLst/>
          </a:prstGeom>
          <a:noFill/>
          <a:ln w="19050">
            <a:solidFill>
              <a:schemeClr val="accent3"/>
            </a:solidFill>
            <a:prstDash val="solid"/>
          </a:ln>
        </p:spPr>
      </p:sp>
      <p:sp>
        <p:nvSpPr>
          <p:cNvPr id="57" name="vline-159"/>
          <p:cNvSpPr/>
          <p:nvPr/>
        </p:nvSpPr>
        <p:spPr>
          <a:xfrm>
            <a:off x="10913364" y="3584448"/>
            <a:ext cx="0" cy="347472"/>
          </a:xfrm>
          <a:prstGeom prst="line">
            <a:avLst/>
          </a:prstGeom>
          <a:noFill/>
          <a:ln w="19050">
            <a:solidFill>
              <a:schemeClr val="accent3"/>
            </a:solidFill>
            <a:prstDash val="solid"/>
            <a:headEnd type="triangle"/>
          </a:ln>
        </p:spPr>
      </p:sp>
      <p:sp>
        <p:nvSpPr>
          <p:cNvPr id="58" name="txt-160"/>
          <p:cNvSpPr txBox="1"/>
          <p:nvPr/>
        </p:nvSpPr>
        <p:spPr>
          <a:xfrm>
            <a:off x="10158984" y="4023360"/>
            <a:ext cx="1691640" cy="256032"/>
          </a:xfrm>
          <a:prstGeom prst="rect">
            <a:avLst/>
          </a:prstGeom>
          <a:noFill/>
          <a:ln/>
        </p:spPr>
        <p:txBody>
          <a:bodyPr wrap="square" lIns="0" tIns="0" rIns="0" bIns="0" rtlCol="0" anchor="t"/>
          <a:lstStyle/>
          <a:p>
            <a:pPr algn="ctr" indent="0" marL="0">
              <a:buNone/>
            </a:pPr>
            <a:r>
              <a:rPr lang="en-US" sz="1100" dirty="0">
                <a:solidFill>
                  <a:schemeClr val="accent3"/>
                </a:solidFill>
              </a:rPr>
              <a:t>미통과 상태 유지</a:t>
            </a:r>
            <a:endParaRPr lang="en-US" sz="1100" dirty="0"/>
          </a:p>
        </p:txBody>
      </p:sp>
      <p:sp>
        <p:nvSpPr>
          <p:cNvPr id="59" name="txt-161"/>
          <p:cNvSpPr txBox="1"/>
          <p:nvPr/>
        </p:nvSpPr>
        <p:spPr>
          <a:xfrm>
            <a:off x="10158984" y="4279392"/>
            <a:ext cx="1691640" cy="292608"/>
          </a:xfrm>
          <a:prstGeom prst="rect">
            <a:avLst/>
          </a:prstGeom>
          <a:noFill/>
          <a:ln/>
        </p:spPr>
        <p:txBody>
          <a:bodyPr wrap="square" lIns="0" tIns="0" rIns="0" bIns="0" rtlCol="0" anchor="t"/>
          <a:lstStyle/>
          <a:p>
            <a:pPr algn="ctr" indent="0" marL="0">
              <a:buNone/>
            </a:pPr>
            <a:r>
              <a:rPr lang="en-US" sz="1300" b="1" dirty="0">
                <a:solidFill>
                  <a:schemeClr val="accent3"/>
                </a:solidFill>
              </a:rPr>
              <a:t>2회 작성 후 미통과</a:t>
            </a:r>
            <a:endParaRPr lang="en-US" sz="1300" dirty="0"/>
          </a:p>
        </p:txBody>
      </p:sp>
      <p:sp>
        <p:nvSpPr>
          <p:cNvPr id="60" name="rule-162"/>
          <p:cNvSpPr/>
          <p:nvPr/>
        </p:nvSpPr>
        <p:spPr>
          <a:xfrm>
            <a:off x="548640" y="5760720"/>
            <a:ext cx="3474720" cy="0"/>
          </a:xfrm>
          <a:prstGeom prst="line">
            <a:avLst/>
          </a:prstGeom>
          <a:noFill/>
          <a:ln w="9525">
            <a:solidFill>
              <a:srgbClr val="D5DBE3"/>
            </a:solidFill>
            <a:prstDash val="solid"/>
          </a:ln>
        </p:spPr>
      </p:sp>
      <p:sp>
        <p:nvSpPr>
          <p:cNvPr id="61" name="txt-163"/>
          <p:cNvSpPr txBox="1"/>
          <p:nvPr/>
        </p:nvSpPr>
        <p:spPr>
          <a:xfrm>
            <a:off x="548640" y="5852160"/>
            <a:ext cx="3474720" cy="310896"/>
          </a:xfrm>
          <a:prstGeom prst="rect">
            <a:avLst/>
          </a:prstGeom>
          <a:noFill/>
          <a:ln/>
        </p:spPr>
        <p:txBody>
          <a:bodyPr wrap="square" lIns="0" tIns="0" rIns="0" bIns="0" rtlCol="0" anchor="t"/>
          <a:lstStyle/>
          <a:p>
            <a:pPr indent="0" marL="0">
              <a:buNone/>
            </a:pPr>
            <a:r>
              <a:rPr lang="en-US" sz="1500" b="1" dirty="0">
                <a:solidFill>
                  <a:schemeClr val="accent1"/>
                </a:solidFill>
              </a:rPr>
              <a:t>LangGraph · Multi-Agent</a:t>
            </a:r>
            <a:endParaRPr lang="en-US" sz="1500" dirty="0"/>
          </a:p>
        </p:txBody>
      </p:sp>
      <p:sp>
        <p:nvSpPr>
          <p:cNvPr id="62" name="txt-164"/>
          <p:cNvSpPr txBox="1"/>
          <p:nvPr/>
        </p:nvSpPr>
        <p:spPr>
          <a:xfrm>
            <a:off x="548640" y="6181344"/>
            <a:ext cx="3474720" cy="274320"/>
          </a:xfrm>
          <a:prstGeom prst="rect">
            <a:avLst/>
          </a:prstGeom>
          <a:noFill/>
          <a:ln/>
        </p:spPr>
        <p:txBody>
          <a:bodyPr wrap="square" lIns="0" tIns="0" rIns="0" bIns="0" rtlCol="0" anchor="t"/>
          <a:lstStyle/>
          <a:p>
            <a:pPr indent="0" marL="0">
              <a:buNone/>
            </a:pPr>
            <a:r>
              <a:rPr lang="en-US" sz="1200" dirty="0">
                <a:solidFill>
                  <a:schemeClr val="tx1"/>
                </a:solidFill>
              </a:rPr>
              <a:t>Supervisor 기반 역할 분담</a:t>
            </a:r>
            <a:endParaRPr lang="en-US" sz="1200" dirty="0"/>
          </a:p>
        </p:txBody>
      </p:sp>
      <p:sp>
        <p:nvSpPr>
          <p:cNvPr id="63" name="rule-165"/>
          <p:cNvSpPr/>
          <p:nvPr/>
        </p:nvSpPr>
        <p:spPr>
          <a:xfrm>
            <a:off x="4343400" y="5760720"/>
            <a:ext cx="3474720" cy="0"/>
          </a:xfrm>
          <a:prstGeom prst="line">
            <a:avLst/>
          </a:prstGeom>
          <a:noFill/>
          <a:ln w="9525">
            <a:solidFill>
              <a:srgbClr val="D5DBE3"/>
            </a:solidFill>
            <a:prstDash val="solid"/>
          </a:ln>
        </p:spPr>
      </p:sp>
      <p:sp>
        <p:nvSpPr>
          <p:cNvPr id="64" name="txt-166"/>
          <p:cNvSpPr txBox="1"/>
          <p:nvPr/>
        </p:nvSpPr>
        <p:spPr>
          <a:xfrm>
            <a:off x="4343400" y="5852160"/>
            <a:ext cx="3474720" cy="310896"/>
          </a:xfrm>
          <a:prstGeom prst="rect">
            <a:avLst/>
          </a:prstGeom>
          <a:noFill/>
          <a:ln/>
        </p:spPr>
        <p:txBody>
          <a:bodyPr wrap="square" lIns="0" tIns="0" rIns="0" bIns="0" rtlCol="0" anchor="t"/>
          <a:lstStyle/>
          <a:p>
            <a:pPr indent="0" marL="0">
              <a:buNone/>
            </a:pPr>
            <a:r>
              <a:rPr lang="en-US" sz="1500" b="1" dirty="0">
                <a:solidFill>
                  <a:schemeClr val="accent1"/>
                </a:solidFill>
              </a:rPr>
              <a:t>MCP · 근거 검증</a:t>
            </a:r>
            <a:endParaRPr lang="en-US" sz="1500" dirty="0"/>
          </a:p>
        </p:txBody>
      </p:sp>
      <p:sp>
        <p:nvSpPr>
          <p:cNvPr id="65" name="txt-167"/>
          <p:cNvSpPr txBox="1"/>
          <p:nvPr/>
        </p:nvSpPr>
        <p:spPr>
          <a:xfrm>
            <a:off x="4343400" y="6181344"/>
            <a:ext cx="3474720" cy="274320"/>
          </a:xfrm>
          <a:prstGeom prst="rect">
            <a:avLst/>
          </a:prstGeom>
          <a:noFill/>
          <a:ln/>
        </p:spPr>
        <p:txBody>
          <a:bodyPr wrap="square" lIns="0" tIns="0" rIns="0" bIns="0" rtlCol="0" anchor="t"/>
          <a:lstStyle/>
          <a:p>
            <a:pPr indent="0" marL="0">
              <a:buNone/>
            </a:pPr>
            <a:r>
              <a:rPr lang="en-US" sz="1200" dirty="0">
                <a:solidFill>
                  <a:schemeClr val="tx1"/>
                </a:solidFill>
              </a:rPr>
              <a:t>Tool · Resource · Prompt / 규칙 기반 매뉴얼</a:t>
            </a:r>
            <a:endParaRPr lang="en-US" sz="1200" dirty="0"/>
          </a:p>
        </p:txBody>
      </p:sp>
      <p:sp>
        <p:nvSpPr>
          <p:cNvPr id="66" name="rule-168"/>
          <p:cNvSpPr/>
          <p:nvPr/>
        </p:nvSpPr>
        <p:spPr>
          <a:xfrm>
            <a:off x="8138160" y="5760720"/>
            <a:ext cx="3474720" cy="0"/>
          </a:xfrm>
          <a:prstGeom prst="line">
            <a:avLst/>
          </a:prstGeom>
          <a:noFill/>
          <a:ln w="9525">
            <a:solidFill>
              <a:srgbClr val="D5DBE3"/>
            </a:solidFill>
            <a:prstDash val="solid"/>
          </a:ln>
        </p:spPr>
      </p:sp>
      <p:sp>
        <p:nvSpPr>
          <p:cNvPr id="67" name="txt-169"/>
          <p:cNvSpPr txBox="1"/>
          <p:nvPr/>
        </p:nvSpPr>
        <p:spPr>
          <a:xfrm>
            <a:off x="8138160" y="5852160"/>
            <a:ext cx="3474720" cy="310896"/>
          </a:xfrm>
          <a:prstGeom prst="rect">
            <a:avLst/>
          </a:prstGeom>
          <a:noFill/>
          <a:ln/>
        </p:spPr>
        <p:txBody>
          <a:bodyPr wrap="square" lIns="0" tIns="0" rIns="0" bIns="0" rtlCol="0" anchor="t"/>
          <a:lstStyle/>
          <a:p>
            <a:pPr indent="0" marL="0">
              <a:buNone/>
            </a:pPr>
            <a:r>
              <a:rPr lang="en-US" sz="1500" b="1" dirty="0">
                <a:solidFill>
                  <a:schemeClr val="accent1"/>
                </a:solidFill>
              </a:rPr>
              <a:t>SSE · SQLite · LangSmith</a:t>
            </a:r>
            <a:endParaRPr lang="en-US" sz="1500" dirty="0"/>
          </a:p>
        </p:txBody>
      </p:sp>
      <p:sp>
        <p:nvSpPr>
          <p:cNvPr id="68" name="txt-170"/>
          <p:cNvSpPr txBox="1"/>
          <p:nvPr/>
        </p:nvSpPr>
        <p:spPr>
          <a:xfrm>
            <a:off x="8138160" y="6181344"/>
            <a:ext cx="3474720" cy="274320"/>
          </a:xfrm>
          <a:prstGeom prst="rect">
            <a:avLst/>
          </a:prstGeom>
          <a:noFill/>
          <a:ln/>
        </p:spPr>
        <p:txBody>
          <a:bodyPr wrap="square" lIns="0" tIns="0" rIns="0" bIns="0" rtlCol="0" anchor="t"/>
          <a:lstStyle/>
          <a:p>
            <a:pPr indent="0" marL="0">
              <a:buNone/>
            </a:pPr>
            <a:r>
              <a:rPr lang="en-US" sz="1200" dirty="0">
                <a:solidFill>
                  <a:schemeClr val="tx1"/>
                </a:solidFill>
              </a:rPr>
              <a:t>실시간 진행 · 조사 이력 · 요청 추적</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평가 기술 요소는 어디서 동작하는가</a:t>
            </a:r>
            <a:endParaRPr lang="en-US" sz="2800" dirty="0"/>
          </a:p>
        </p:txBody>
      </p:sp>
      <p:graphicFrame>
        <p:nvGraphicFramePr>
          <p:cNvPr id="8" name="tech-table-171"/>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1737360"/>
                <a:gridCol w="7315200"/>
                <a:gridCol w="2057400"/>
              </a:tblGrid>
              <a:tr h="566928">
                <a:tc>
                  <a:txBody>
                    <a:bodyPr/>
                    <a:lstStyle/>
                    <a:p>
                      <a:pPr indent="0" marL="0">
                        <a:buNone/>
                      </a:pPr>
                      <a:r>
                        <a:rPr lang="en-US" sz="1400" b="1" dirty="0">
                          <a:solidFill>
                            <a:schemeClr val="bg1"/>
                          </a:solidFill>
                        </a:rPr>
                        <a:t>기술</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구현 위치</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연결된 개선·추가</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tx1"/>
                          </a:solidFill>
                        </a:rPr>
                        <a:t>Multi-Agent</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Supervisor 그래프의 역할 노드 (계획·조사·분석·작성·검증)</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개선 1·2·3</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MCP</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Tool 상태 조회 · Resource 매뉴얼 · Prompt 절차 (mcp_client.py)</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개선 2 · 추가 1</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의존성 주입</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SupervisorDeps — 실제 OpenAI ↔ 고정 대역, 임시 DB 교체</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테스트·전후 비교</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LangSmith</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요청 루트 아래 노드·LLM·MCP·저장 ID 연결 추적</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실측 근거</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모듈화</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agent/ 16개 모듈 (targets · runbook_selector · report 등)</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전 기능</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테스트</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Python 130개(단위·API·MCP·SSE 혼합) · Node 화면 로직 1개 스크립트 · 정답 검증셋 35개</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회귀 방지</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accent3"/>
                          </a:solidFill>
                        </a:rPr>
                        <a:t>RAG</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미적용 — 매뉴얼 6종을 규칙 기반으로 선택</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한계로 설명</a:t>
                      </a:r>
                      <a:endParaRPr lang="en-US" sz="1400" dirty="0"/>
                    </a:p>
                  </a:txBody>
                  <a:tcPr marL="109728" marR="109728"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개선 1  조사 대상 정확성 — 임의 조사 대신 확인</a:t>
            </a:r>
            <a:endParaRPr lang="en-US" sz="2800" dirty="0"/>
          </a:p>
        </p:txBody>
      </p:sp>
      <p:sp>
        <p:nvSpPr>
          <p:cNvPr id="3" name="frame-ambiguous-172"/>
          <p:cNvSpPr/>
          <p:nvPr/>
        </p:nvSpPr>
        <p:spPr>
          <a:xfrm>
            <a:off x="512063" y="2708353"/>
            <a:ext cx="5513832" cy="1925924"/>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ambiguous-173" descr="ambiguous">    </p:cNvPr>
          <p:cNvPicPr>
            <a:picLocks noChangeAspect="1"/>
          </p:cNvPicPr>
          <p:nvPr/>
        </p:nvPicPr>
        <p:blipFill>
          <a:blip r:embed="rId1"/>
          <a:stretch>
            <a:fillRect/>
          </a:stretch>
        </p:blipFill>
        <p:spPr>
          <a:xfrm>
            <a:off x="548640" y="2744929"/>
            <a:ext cx="5440680" cy="1852772"/>
          </a:xfrm>
          <a:prstGeom prst="rect">
            <a:avLst/>
          </a:prstGeom>
        </p:spPr>
      </p:pic>
      <p:sp>
        <p:nvSpPr>
          <p:cNvPr id="5" name="tag-174"/>
          <p:cNvSpPr txBox="1"/>
          <p:nvPr/>
        </p:nvSpPr>
        <p:spPr>
          <a:xfrm>
            <a:off x="548640" y="2360881"/>
            <a:ext cx="1197864"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대상 불명확</a:t>
            </a:r>
            <a:endParaRPr lang="en-US" sz="1200" dirty="0"/>
          </a:p>
        </p:txBody>
      </p:sp>
      <p:sp>
        <p:nvSpPr>
          <p:cNvPr id="6" name="cap-175"/>
          <p:cNvSpPr txBox="1"/>
          <p:nvPr/>
        </p:nvSpPr>
        <p:spPr>
          <a:xfrm>
            <a:off x="548640" y="4725718"/>
            <a:ext cx="5440680" cy="548640"/>
          </a:xfrm>
          <a:prstGeom prst="rect">
            <a:avLst/>
          </a:prstGeom>
          <a:noFill/>
          <a:ln/>
        </p:spPr>
        <p:txBody>
          <a:bodyPr wrap="square" lIns="0" tIns="0" rIns="0" bIns="0" rtlCol="0" anchor="t"/>
          <a:lstStyle/>
          <a:p>
            <a:pPr algn="ctr" indent="0" marL="0">
              <a:buNone/>
            </a:pPr>
            <a:r>
              <a:rPr lang="en-US" sz="1400" dirty="0">
                <a:solidFill>
                  <a:schemeClr val="tx2"/>
                </a:solidFill>
              </a:rPr>
              <a:t>“로그인 응답이 느려요” → 등록 서비스 목록과 함께 대상 확인</a:t>
            </a:r>
            <a:endParaRPr lang="en-US" sz="1400" dirty="0"/>
          </a:p>
        </p:txBody>
      </p:sp>
      <p:sp>
        <p:nvSpPr>
          <p:cNvPr id="7" name="frame-unregistered-176"/>
          <p:cNvSpPr/>
          <p:nvPr/>
        </p:nvSpPr>
        <p:spPr>
          <a:xfrm>
            <a:off x="6163056" y="2708353"/>
            <a:ext cx="5513832" cy="1921926"/>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unregistered-177" descr="unregistered">    </p:cNvPr>
          <p:cNvPicPr>
            <a:picLocks noChangeAspect="1"/>
          </p:cNvPicPr>
          <p:nvPr/>
        </p:nvPicPr>
        <p:blipFill>
          <a:blip r:embed="rId2"/>
          <a:stretch>
            <a:fillRect/>
          </a:stretch>
        </p:blipFill>
        <p:spPr>
          <a:xfrm>
            <a:off x="6199632" y="2744929"/>
            <a:ext cx="5440680" cy="1848774"/>
          </a:xfrm>
          <a:prstGeom prst="rect">
            <a:avLst/>
          </a:prstGeom>
        </p:spPr>
      </p:pic>
      <p:sp>
        <p:nvSpPr>
          <p:cNvPr id="9" name="tag-178"/>
          <p:cNvSpPr txBox="1"/>
          <p:nvPr/>
        </p:nvSpPr>
        <p:spPr>
          <a:xfrm>
            <a:off x="6199632" y="2360881"/>
            <a:ext cx="1344168"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미등록 서비스</a:t>
            </a:r>
            <a:endParaRPr lang="en-US" sz="1200" dirty="0"/>
          </a:p>
        </p:txBody>
      </p:sp>
      <p:sp>
        <p:nvSpPr>
          <p:cNvPr id="10" name="cap-179"/>
          <p:cNvSpPr txBox="1"/>
          <p:nvPr/>
        </p:nvSpPr>
        <p:spPr>
          <a:xfrm>
            <a:off x="6199632" y="4721720"/>
            <a:ext cx="5440680" cy="548640"/>
          </a:xfrm>
          <a:prstGeom prst="rect">
            <a:avLst/>
          </a:prstGeom>
          <a:noFill/>
          <a:ln/>
        </p:spPr>
        <p:txBody>
          <a:bodyPr wrap="square" lIns="0" tIns="0" rIns="0" bIns="0" rtlCol="0" anchor="t"/>
          <a:lstStyle/>
          <a:p>
            <a:pPr algn="ctr" indent="0" marL="0">
              <a:buNone/>
            </a:pPr>
            <a:r>
              <a:rPr lang="en-US" sz="1400" dirty="0">
                <a:solidFill>
                  <a:schemeClr val="tx2"/>
                </a:solidFill>
              </a:rPr>
              <a:t>“billing-service 응답이 느려요” → 다른 서비스로 대체하지 않음</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개선 2·4  서비스별 매뉴얼 + 실제 진행 상태</a:t>
            </a:r>
            <a:endParaRPr lang="en-US" sz="2800" dirty="0"/>
          </a:p>
        </p:txBody>
      </p:sp>
      <p:sp>
        <p:nvSpPr>
          <p:cNvPr id="3" name="frame-multi_running-180"/>
          <p:cNvSpPr/>
          <p:nvPr/>
        </p:nvSpPr>
        <p:spPr>
          <a:xfrm>
            <a:off x="512063" y="1930427"/>
            <a:ext cx="5513832" cy="3207456"/>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multi_running-181" descr="multi_running">    </p:cNvPr>
          <p:cNvPicPr>
            <a:picLocks noChangeAspect="1"/>
          </p:cNvPicPr>
          <p:nvPr/>
        </p:nvPicPr>
        <p:blipFill>
          <a:blip r:embed="rId1"/>
          <a:stretch>
            <a:fillRect/>
          </a:stretch>
        </p:blipFill>
        <p:spPr>
          <a:xfrm>
            <a:off x="548640" y="1967003"/>
            <a:ext cx="5440680" cy="3134304"/>
          </a:xfrm>
          <a:prstGeom prst="rect">
            <a:avLst/>
          </a:prstGeom>
        </p:spPr>
      </p:pic>
      <p:sp>
        <p:nvSpPr>
          <p:cNvPr id="5" name="tag-182"/>
          <p:cNvSpPr txBox="1"/>
          <p:nvPr/>
        </p:nvSpPr>
        <p:spPr>
          <a:xfrm>
            <a:off x="548640" y="1582955"/>
            <a:ext cx="91440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처리 중</a:t>
            </a:r>
            <a:endParaRPr lang="en-US" sz="1200" dirty="0"/>
          </a:p>
        </p:txBody>
      </p:sp>
      <p:sp>
        <p:nvSpPr>
          <p:cNvPr id="6" name="cap-183"/>
          <p:cNvSpPr txBox="1"/>
          <p:nvPr/>
        </p:nvSpPr>
        <p:spPr>
          <a:xfrm>
            <a:off x="548640" y="5229324"/>
            <a:ext cx="5440680" cy="548640"/>
          </a:xfrm>
          <a:prstGeom prst="rect">
            <a:avLst/>
          </a:prstGeom>
          <a:noFill/>
          <a:ln/>
        </p:spPr>
        <p:txBody>
          <a:bodyPr wrap="square" lIns="0" tIns="0" rIns="0" bIns="0" rtlCol="0" anchor="t"/>
          <a:lstStyle/>
          <a:p>
            <a:pPr algn="ctr" indent="0" marL="0">
              <a:buNone/>
            </a:pPr>
            <a:r>
              <a:rPr lang="en-US" sz="1400" dirty="0">
                <a:solidFill>
                  <a:schemeClr val="tx2"/>
                </a:solidFill>
              </a:rPr>
              <a:t>서비스별 모니터링·매뉴얼 작업이 실제 진행 순서대로 표시</a:t>
            </a:r>
            <a:endParaRPr lang="en-US" sz="1400" dirty="0"/>
          </a:p>
        </p:txBody>
      </p:sp>
      <p:sp>
        <p:nvSpPr>
          <p:cNvPr id="7" name="frame-multi_sources-184"/>
          <p:cNvSpPr/>
          <p:nvPr/>
        </p:nvSpPr>
        <p:spPr>
          <a:xfrm>
            <a:off x="6163056" y="1930427"/>
            <a:ext cx="5513832" cy="196556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multi_sources-185" descr="multi_sources">    </p:cNvPr>
          <p:cNvPicPr>
            <a:picLocks noChangeAspect="1"/>
          </p:cNvPicPr>
          <p:nvPr/>
        </p:nvPicPr>
        <p:blipFill>
          <a:blip r:embed="rId2"/>
          <a:stretch>
            <a:fillRect/>
          </a:stretch>
        </p:blipFill>
        <p:spPr>
          <a:xfrm>
            <a:off x="6199632" y="1967003"/>
            <a:ext cx="5440680" cy="1892410"/>
          </a:xfrm>
          <a:prstGeom prst="rect">
            <a:avLst/>
          </a:prstGeom>
        </p:spPr>
      </p:pic>
      <p:sp>
        <p:nvSpPr>
          <p:cNvPr id="9" name="tag-186"/>
          <p:cNvSpPr txBox="1"/>
          <p:nvPr/>
        </p:nvSpPr>
        <p:spPr>
          <a:xfrm>
            <a:off x="6199632" y="1582955"/>
            <a:ext cx="1344168"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완료 후 출처</a:t>
            </a:r>
            <a:endParaRPr lang="en-US" sz="1200" dirty="0"/>
          </a:p>
        </p:txBody>
      </p:sp>
      <p:sp>
        <p:nvSpPr>
          <p:cNvPr id="10" name="cap-187"/>
          <p:cNvSpPr txBox="1"/>
          <p:nvPr/>
        </p:nvSpPr>
        <p:spPr>
          <a:xfrm>
            <a:off x="6199632" y="3987430"/>
            <a:ext cx="5440680" cy="548640"/>
          </a:xfrm>
          <a:prstGeom prst="rect">
            <a:avLst/>
          </a:prstGeom>
          <a:noFill/>
          <a:ln/>
        </p:spPr>
        <p:txBody>
          <a:bodyPr wrap="square" lIns="0" tIns="0" rIns="0" bIns="0" rtlCol="0" anchor="t"/>
          <a:lstStyle/>
          <a:p>
            <a:pPr algn="ctr" indent="0" marL="0">
              <a:buNone/>
            </a:pPr>
            <a:r>
              <a:rPr lang="en-US" sz="1400" dirty="0">
                <a:solidFill>
                  <a:schemeClr val="tx2"/>
                </a:solidFill>
              </a:rPr>
              <a:t>payments → cpu-spike, cache → memory-leak 매뉴얼을 각각 출처로 연결</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9</a:t>
            </a:fld>
            <a:endParaRPr lang="en-US"/>
          </a:p>
        </p:txBody>
      </p:sp>
      <p:sp>
        <p:nvSpPr>
          <p:cNvPr id="26" name="cap-stream-note"/>
          <p:cNvSpPr txBox="1"/>
          <p:nvPr/>
        </p:nvSpPr>
        <p:spPr>
          <a:xfrm>
            <a:off x="548640" y="5989320"/>
            <a:ext cx="11109960" cy="320040"/>
          </a:xfrm>
          <a:prstGeom prst="rect">
            <a:avLst/>
          </a:prstGeom>
          <a:noFill/>
          <a:ln/>
        </p:spPr>
        <p:txBody>
          <a:bodyPr wrap="square" lIns="0" tIns="0" rIns="0" bIns="0" rtlCol="0" anchor="t"/>
          <a:lstStyle/>
          <a:p>
            <a:pPr algn="ctr" indent="0" marL="0">
              <a:buNone/>
            </a:pPr>
            <a:r>
              <a:rPr lang="en-US" sz="1400" dirty="0">
                <a:solidFill>
                  <a:schemeClr val="tx2"/>
                </a:solidFill>
              </a:rPr>
              <a:t>답변은 검증 후 보고서가 순서대로 표시됨(초안은 검증 전 표시)</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개선 3·4  틀린 초안은 반려, 실패한 조회는 격리</a:t>
            </a:r>
            <a:endParaRPr lang="en-US" sz="2800" dirty="0"/>
          </a:p>
        </p:txBody>
      </p:sp>
      <p:sp>
        <p:nvSpPr>
          <p:cNvPr id="3" name="flow-188"/>
          <p:cNvSpPr/>
          <p:nvPr/>
        </p:nvSpPr>
        <p:spPr>
          <a:xfrm>
            <a:off x="548640" y="1371600"/>
            <a:ext cx="5120640" cy="822960"/>
          </a:xfrm>
          <a:prstGeom prst="roundRect">
            <a:avLst>
              <a:gd name="adj" fmla="val 11111"/>
            </a:avLst>
          </a:prstGeom>
          <a:solidFill>
            <a:schemeClr val="bg2"/>
          </a:solidFill>
          <a:ln/>
        </p:spPr>
      </p:sp>
      <p:sp>
        <p:nvSpPr>
          <p:cNvPr id="4" name="dot-189"/>
          <p:cNvSpPr/>
          <p:nvPr/>
        </p:nvSpPr>
        <p:spPr>
          <a:xfrm>
            <a:off x="731520" y="1600200"/>
            <a:ext cx="365760" cy="365760"/>
          </a:xfrm>
          <a:prstGeom prst="ellipse">
            <a:avLst/>
          </a:prstGeom>
          <a:solidFill>
            <a:schemeClr val="accent3"/>
          </a:solidFill>
          <a:ln/>
        </p:spPr>
      </p:sp>
      <p:sp>
        <p:nvSpPr>
          <p:cNvPr id="5" name="txt-190"/>
          <p:cNvSpPr txBox="1"/>
          <p:nvPr/>
        </p:nvSpPr>
        <p:spPr>
          <a:xfrm>
            <a:off x="1280160" y="1444752"/>
            <a:ext cx="4206240" cy="365760"/>
          </a:xfrm>
          <a:prstGeom prst="rect">
            <a:avLst/>
          </a:prstGeom>
          <a:noFill/>
          <a:ln/>
        </p:spPr>
        <p:txBody>
          <a:bodyPr wrap="square" lIns="0" tIns="0" rIns="0" bIns="0" rtlCol="0" anchor="t"/>
          <a:lstStyle/>
          <a:p>
            <a:pPr indent="0" marL="0">
              <a:buNone/>
            </a:pPr>
            <a:r>
              <a:rPr lang="en-US" sz="1600" b="1" dirty="0">
                <a:solidFill>
                  <a:schemeClr val="tx1"/>
                </a:solidFill>
              </a:rPr>
              <a:t>반려된 초안</a:t>
            </a:r>
            <a:endParaRPr lang="en-US" sz="1600" dirty="0"/>
          </a:p>
        </p:txBody>
      </p:sp>
      <p:sp>
        <p:nvSpPr>
          <p:cNvPr id="6" name="txt-191"/>
          <p:cNvSpPr txBox="1"/>
          <p:nvPr/>
        </p:nvSpPr>
        <p:spPr>
          <a:xfrm>
            <a:off x="1280160" y="1810512"/>
            <a:ext cx="4297680" cy="320040"/>
          </a:xfrm>
          <a:prstGeom prst="rect">
            <a:avLst/>
          </a:prstGeom>
          <a:noFill/>
          <a:ln/>
        </p:spPr>
        <p:txBody>
          <a:bodyPr wrap="square" lIns="0" tIns="0" rIns="0" bIns="0" rtlCol="0" anchor="t"/>
          <a:lstStyle/>
          <a:p>
            <a:pPr indent="0" marL="0">
              <a:buNone/>
            </a:pPr>
            <a:r>
              <a:rPr lang="en-US" sz="1200" dirty="0">
                <a:solidFill>
                  <a:schemeClr val="tx2"/>
                </a:solidFill>
              </a:rPr>
              <a:t>작성값 CPU 1 ≠ 관측 91.0</a:t>
            </a:r>
            <a:endParaRPr lang="en-US" sz="1200" dirty="0"/>
          </a:p>
        </p:txBody>
      </p:sp>
      <p:sp>
        <p:nvSpPr>
          <p:cNvPr id="7" name="arrow-192"/>
          <p:cNvSpPr/>
          <p:nvPr/>
        </p:nvSpPr>
        <p:spPr>
          <a:xfrm>
            <a:off x="804672" y="2221992"/>
            <a:ext cx="219456" cy="201168"/>
          </a:xfrm>
          <a:prstGeom prst="downArrow">
            <a:avLst/>
          </a:prstGeom>
          <a:solidFill>
            <a:schemeClr val="accent5"/>
          </a:solidFill>
          <a:ln/>
        </p:spPr>
      </p:sp>
      <p:sp>
        <p:nvSpPr>
          <p:cNvPr id="8" name="flow-193"/>
          <p:cNvSpPr/>
          <p:nvPr/>
        </p:nvSpPr>
        <p:spPr>
          <a:xfrm>
            <a:off x="548640" y="2450592"/>
            <a:ext cx="5120640" cy="822960"/>
          </a:xfrm>
          <a:prstGeom prst="roundRect">
            <a:avLst>
              <a:gd name="adj" fmla="val 11111"/>
            </a:avLst>
          </a:prstGeom>
          <a:solidFill>
            <a:schemeClr val="bg2"/>
          </a:solidFill>
          <a:ln/>
        </p:spPr>
      </p:sp>
      <p:sp>
        <p:nvSpPr>
          <p:cNvPr id="9" name="dot-194"/>
          <p:cNvSpPr/>
          <p:nvPr/>
        </p:nvSpPr>
        <p:spPr>
          <a:xfrm>
            <a:off x="731520" y="2679192"/>
            <a:ext cx="365760" cy="365760"/>
          </a:xfrm>
          <a:prstGeom prst="ellipse">
            <a:avLst/>
          </a:prstGeom>
          <a:solidFill>
            <a:schemeClr val="accent2"/>
          </a:solidFill>
          <a:ln/>
        </p:spPr>
      </p:sp>
      <p:sp>
        <p:nvSpPr>
          <p:cNvPr id="10" name="txt-195"/>
          <p:cNvSpPr txBox="1"/>
          <p:nvPr/>
        </p:nvSpPr>
        <p:spPr>
          <a:xfrm>
            <a:off x="1280160" y="2523744"/>
            <a:ext cx="4206240" cy="365760"/>
          </a:xfrm>
          <a:prstGeom prst="rect">
            <a:avLst/>
          </a:prstGeom>
          <a:noFill/>
          <a:ln/>
        </p:spPr>
        <p:txBody>
          <a:bodyPr wrap="square" lIns="0" tIns="0" rIns="0" bIns="0" rtlCol="0" anchor="t"/>
          <a:lstStyle/>
          <a:p>
            <a:pPr indent="0" marL="0">
              <a:buNone/>
            </a:pPr>
            <a:r>
              <a:rPr lang="en-US" sz="1600" b="1" dirty="0">
                <a:solidFill>
                  <a:schemeClr val="tx1"/>
                </a:solidFill>
              </a:rPr>
              <a:t>반려 사유 전달</a:t>
            </a:r>
            <a:endParaRPr lang="en-US" sz="1600" dirty="0"/>
          </a:p>
        </p:txBody>
      </p:sp>
      <p:sp>
        <p:nvSpPr>
          <p:cNvPr id="11" name="txt-196"/>
          <p:cNvSpPr txBox="1"/>
          <p:nvPr/>
        </p:nvSpPr>
        <p:spPr>
          <a:xfrm>
            <a:off x="1280160" y="2889504"/>
            <a:ext cx="4297680" cy="320040"/>
          </a:xfrm>
          <a:prstGeom prst="rect">
            <a:avLst/>
          </a:prstGeom>
          <a:noFill/>
          <a:ln/>
        </p:spPr>
        <p:txBody>
          <a:bodyPr wrap="square" lIns="0" tIns="0" rIns="0" bIns="0" rtlCol="0" anchor="t"/>
          <a:lstStyle/>
          <a:p>
            <a:pPr indent="0" marL="0">
              <a:buNone/>
            </a:pPr>
            <a:r>
              <a:rPr lang="en-US" sz="1200" dirty="0">
                <a:solidFill>
                  <a:schemeClr val="tx2"/>
                </a:solidFill>
              </a:rPr>
              <a:t>cpu_percent 기대값 91.0 · 근거 obs:payments-service</a:t>
            </a:r>
            <a:endParaRPr lang="en-US" sz="1200" dirty="0"/>
          </a:p>
        </p:txBody>
      </p:sp>
      <p:sp>
        <p:nvSpPr>
          <p:cNvPr id="12" name="arrow-197"/>
          <p:cNvSpPr/>
          <p:nvPr/>
        </p:nvSpPr>
        <p:spPr>
          <a:xfrm>
            <a:off x="804672" y="3300984"/>
            <a:ext cx="219456" cy="201168"/>
          </a:xfrm>
          <a:prstGeom prst="downArrow">
            <a:avLst/>
          </a:prstGeom>
          <a:solidFill>
            <a:schemeClr val="accent5"/>
          </a:solidFill>
          <a:ln/>
        </p:spPr>
      </p:sp>
      <p:sp>
        <p:nvSpPr>
          <p:cNvPr id="13" name="flow-198"/>
          <p:cNvSpPr/>
          <p:nvPr/>
        </p:nvSpPr>
        <p:spPr>
          <a:xfrm>
            <a:off x="548640" y="3529584"/>
            <a:ext cx="5120640" cy="822960"/>
          </a:xfrm>
          <a:prstGeom prst="roundRect">
            <a:avLst>
              <a:gd name="adj" fmla="val 11111"/>
            </a:avLst>
          </a:prstGeom>
          <a:solidFill>
            <a:schemeClr val="bg2"/>
          </a:solidFill>
          <a:ln/>
        </p:spPr>
      </p:sp>
      <p:sp>
        <p:nvSpPr>
          <p:cNvPr id="14" name="dot-199"/>
          <p:cNvSpPr/>
          <p:nvPr/>
        </p:nvSpPr>
        <p:spPr>
          <a:xfrm>
            <a:off x="731520" y="3758184"/>
            <a:ext cx="365760" cy="365760"/>
          </a:xfrm>
          <a:prstGeom prst="ellipse">
            <a:avLst/>
          </a:prstGeom>
          <a:solidFill>
            <a:schemeClr val="accent4"/>
          </a:solidFill>
          <a:ln/>
        </p:spPr>
      </p:sp>
      <p:sp>
        <p:nvSpPr>
          <p:cNvPr id="15" name="txt-200"/>
          <p:cNvSpPr txBox="1"/>
          <p:nvPr/>
        </p:nvSpPr>
        <p:spPr>
          <a:xfrm>
            <a:off x="1280160" y="3602736"/>
            <a:ext cx="4206240" cy="365760"/>
          </a:xfrm>
          <a:prstGeom prst="rect">
            <a:avLst/>
          </a:prstGeom>
          <a:noFill/>
          <a:ln/>
        </p:spPr>
        <p:txBody>
          <a:bodyPr wrap="square" lIns="0" tIns="0" rIns="0" bIns="0" rtlCol="0" anchor="t"/>
          <a:lstStyle/>
          <a:p>
            <a:pPr indent="0" marL="0">
              <a:buNone/>
            </a:pPr>
            <a:r>
              <a:rPr lang="en-US" sz="1600" b="1" dirty="0">
                <a:solidFill>
                  <a:schemeClr val="tx1"/>
                </a:solidFill>
              </a:rPr>
              <a:t>재작성 1회</a:t>
            </a:r>
            <a:endParaRPr lang="en-US" sz="1600" dirty="0"/>
          </a:p>
        </p:txBody>
      </p:sp>
      <p:sp>
        <p:nvSpPr>
          <p:cNvPr id="16" name="txt-201"/>
          <p:cNvSpPr txBox="1"/>
          <p:nvPr/>
        </p:nvSpPr>
        <p:spPr>
          <a:xfrm>
            <a:off x="1280160" y="3968496"/>
            <a:ext cx="4297680" cy="320040"/>
          </a:xfrm>
          <a:prstGeom prst="rect">
            <a:avLst/>
          </a:prstGeom>
          <a:noFill/>
          <a:ln/>
        </p:spPr>
        <p:txBody>
          <a:bodyPr wrap="square" lIns="0" tIns="0" rIns="0" bIns="0" rtlCol="0" anchor="t"/>
          <a:lstStyle/>
          <a:p>
            <a:pPr indent="0" marL="0">
              <a:buNone/>
            </a:pPr>
            <a:r>
              <a:rPr lang="en-US" sz="1200" dirty="0">
                <a:solidFill>
                  <a:schemeClr val="tx2"/>
                </a:solidFill>
              </a:rPr>
              <a:t>같은 근거로 다시 작성</a:t>
            </a:r>
            <a:endParaRPr lang="en-US" sz="1200" dirty="0"/>
          </a:p>
        </p:txBody>
      </p:sp>
      <p:sp>
        <p:nvSpPr>
          <p:cNvPr id="17" name="arrow-202"/>
          <p:cNvSpPr/>
          <p:nvPr/>
        </p:nvSpPr>
        <p:spPr>
          <a:xfrm>
            <a:off x="804672" y="4379976"/>
            <a:ext cx="219456" cy="201168"/>
          </a:xfrm>
          <a:prstGeom prst="downArrow">
            <a:avLst/>
          </a:prstGeom>
          <a:solidFill>
            <a:schemeClr val="accent5"/>
          </a:solidFill>
          <a:ln/>
        </p:spPr>
      </p:sp>
      <p:sp>
        <p:nvSpPr>
          <p:cNvPr id="18" name="flow-203"/>
          <p:cNvSpPr/>
          <p:nvPr/>
        </p:nvSpPr>
        <p:spPr>
          <a:xfrm>
            <a:off x="548640" y="4608576"/>
            <a:ext cx="5120640" cy="822960"/>
          </a:xfrm>
          <a:prstGeom prst="roundRect">
            <a:avLst>
              <a:gd name="adj" fmla="val 11111"/>
            </a:avLst>
          </a:prstGeom>
          <a:solidFill>
            <a:schemeClr val="bg2"/>
          </a:solidFill>
          <a:ln/>
        </p:spPr>
      </p:sp>
      <p:sp>
        <p:nvSpPr>
          <p:cNvPr id="19" name="dot-204"/>
          <p:cNvSpPr/>
          <p:nvPr/>
        </p:nvSpPr>
        <p:spPr>
          <a:xfrm>
            <a:off x="731520" y="4837176"/>
            <a:ext cx="365760" cy="365760"/>
          </a:xfrm>
          <a:prstGeom prst="ellipse">
            <a:avLst/>
          </a:prstGeom>
          <a:solidFill>
            <a:schemeClr val="accent1"/>
          </a:solidFill>
          <a:ln/>
        </p:spPr>
      </p:sp>
      <p:sp>
        <p:nvSpPr>
          <p:cNvPr id="20" name="txt-205"/>
          <p:cNvSpPr txBox="1"/>
          <p:nvPr/>
        </p:nvSpPr>
        <p:spPr>
          <a:xfrm>
            <a:off x="1280160" y="4681728"/>
            <a:ext cx="4206240" cy="365760"/>
          </a:xfrm>
          <a:prstGeom prst="rect">
            <a:avLst/>
          </a:prstGeom>
          <a:noFill/>
          <a:ln/>
        </p:spPr>
        <p:txBody>
          <a:bodyPr wrap="square" lIns="0" tIns="0" rIns="0" bIns="0" rtlCol="0" anchor="t"/>
          <a:lstStyle/>
          <a:p>
            <a:pPr indent="0" marL="0">
              <a:buNone/>
            </a:pPr>
            <a:r>
              <a:rPr lang="en-US" sz="1600" b="1" dirty="0">
                <a:solidFill>
                  <a:schemeClr val="tx1"/>
                </a:solidFill>
              </a:rPr>
              <a:t>검증 통과</a:t>
            </a:r>
            <a:endParaRPr lang="en-US" sz="1600" dirty="0"/>
          </a:p>
        </p:txBody>
      </p:sp>
      <p:sp>
        <p:nvSpPr>
          <p:cNvPr id="21" name="txt-206"/>
          <p:cNvSpPr txBox="1"/>
          <p:nvPr/>
        </p:nvSpPr>
        <p:spPr>
          <a:xfrm>
            <a:off x="1280160" y="5047488"/>
            <a:ext cx="4297680" cy="320040"/>
          </a:xfrm>
          <a:prstGeom prst="rect">
            <a:avLst/>
          </a:prstGeom>
          <a:noFill/>
          <a:ln/>
        </p:spPr>
        <p:txBody>
          <a:bodyPr wrap="square" lIns="0" tIns="0" rIns="0" bIns="0" rtlCol="0" anchor="t"/>
          <a:lstStyle/>
          <a:p>
            <a:pPr indent="0" marL="0">
              <a:buNone/>
            </a:pPr>
            <a:r>
              <a:rPr lang="en-US" sz="1200" dirty="0">
                <a:solidFill>
                  <a:schemeClr val="tx2"/>
                </a:solidFill>
              </a:rPr>
              <a:t>수치·출처·조치 조건 일치</a:t>
            </a:r>
            <a:endParaRPr lang="en-US" sz="1200" dirty="0"/>
          </a:p>
        </p:txBody>
      </p:sp>
      <p:sp>
        <p:nvSpPr>
          <p:cNvPr id="24" name="frame-partial_fail-209"/>
          <p:cNvSpPr/>
          <p:nvPr/>
        </p:nvSpPr>
        <p:spPr>
          <a:xfrm>
            <a:off x="6547104" y="1627632"/>
            <a:ext cx="4645152" cy="2110673"/>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25" name="shot-partial_fail-210" descr="partial_fail">    </p:cNvPr>
          <p:cNvPicPr>
            <a:picLocks noChangeAspect="1"/>
          </p:cNvPicPr>
          <p:nvPr/>
        </p:nvPicPr>
        <p:blipFill>
          <a:blip r:embed="rId1"/>
          <a:stretch>
            <a:fillRect/>
          </a:stretch>
        </p:blipFill>
        <p:spPr>
          <a:xfrm>
            <a:off x="6583680" y="1664208"/>
            <a:ext cx="4572000" cy="2037521"/>
          </a:xfrm>
          <a:prstGeom prst="rect">
            <a:avLst/>
          </a:prstGeom>
        </p:spPr>
      </p:pic>
      <p:sp>
        <p:nvSpPr>
          <p:cNvPr id="26" name="tag-211"/>
          <p:cNvSpPr txBox="1"/>
          <p:nvPr/>
        </p:nvSpPr>
        <p:spPr>
          <a:xfrm>
            <a:off x="6583680" y="1280160"/>
            <a:ext cx="2011680" cy="292608"/>
          </a:xfrm>
          <a:prstGeom prst="roundRect">
            <a:avLst>
              <a:gd name="adj" fmla="val 156250"/>
            </a:avLst>
          </a:prstGeom>
          <a:solidFill>
            <a:schemeClr val="accent4"/>
          </a:solidFill>
          <a:ln/>
        </p:spPr>
        <p:txBody>
          <a:bodyPr wrap="square" lIns="0" tIns="0" rIns="0" bIns="0" rtlCol="0" anchor="ctr"/>
          <a:lstStyle/>
          <a:p>
            <a:pPr algn="ctr" indent="0" marL="0">
              <a:buNone/>
            </a:pPr>
            <a:r>
              <a:rPr lang="en-US" sz="1100" b="1" dirty="0">
                <a:solidFill>
                  <a:schemeClr val="bg1"/>
                </a:solidFill>
              </a:rPr>
              <a:t>고정 대역 · 오류 주입</a:t>
            </a:r>
            <a:endParaRPr lang="en-US" sz="1100" dirty="0"/>
          </a:p>
        </p:txBody>
      </p:sp>
      <p:sp>
        <p:nvSpPr>
          <p:cNvPr id="27" name="cap-212"/>
          <p:cNvSpPr txBox="1"/>
          <p:nvPr/>
        </p:nvSpPr>
        <p:spPr>
          <a:xfrm>
            <a:off x="6035040" y="6000451"/>
            <a:ext cx="5669280" cy="548640"/>
          </a:xfrm>
          <a:prstGeom prst="rect">
            <a:avLst/>
          </a:prstGeom>
          <a:noFill/>
          <a:ln/>
        </p:spPr>
        <p:txBody>
          <a:bodyPr wrap="square" lIns="0" tIns="0" rIns="0" bIns="0" rtlCol="0" anchor="t"/>
          <a:lstStyle/>
          <a:p>
            <a:pPr algn="ctr" indent="0" marL="0">
              <a:buNone/>
            </a:pPr>
            <a:r>
              <a:rPr lang="en-US" sz="1400" dirty="0">
                <a:solidFill>
                  <a:schemeClr val="tx2"/>
                </a:solidFill>
              </a:rPr>
              <a:t>cache 조회 실패·재시도 실패 → payments 결과는 유지하고 실패 대상 안내 (위: 처리 과정 · 아래: 최종 보고서)</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a:t>
            </a:fld>
            <a:endParaRPr lang="en-US"/>
          </a:p>
        </p:txBody>
      </p:sp>
      <p:sp>
        <p:nvSpPr>
          <p:cNvPr id="29" name="frame-retry_final"/>
          <p:cNvSpPr/>
          <p:nvPr/>
        </p:nvSpPr>
        <p:spPr>
          <a:xfrm>
            <a:off x="6547104" y="3866321"/>
            <a:ext cx="4645152" cy="2060978"/>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28" name="shot-retry_final" descr="partial_fail">    </p:cNvPr>
          <p:cNvPicPr>
            <a:picLocks noChangeAspect="1"/>
          </p:cNvPicPr>
          <p:nvPr/>
        </p:nvPicPr>
        <p:blipFill>
          <a:blip r:embed="rId9"/>
          <a:stretch>
            <a:fillRect/>
          </a:stretch>
        </p:blipFill>
        <p:spPr>
          <a:xfrm>
            <a:off x="6583680" y="3902897"/>
            <a:ext cx="4572000" cy="19878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개선 5  새로고침 후에도 대화와 대상이 이어짐</a:t>
            </a:r>
            <a:endParaRPr lang="en-US" sz="2800" dirty="0"/>
          </a:p>
        </p:txBody>
      </p:sp>
      <p:sp>
        <p:nvSpPr>
          <p:cNvPr id="3" name="frame-ctx_prev-213"/>
          <p:cNvSpPr/>
          <p:nvPr/>
        </p:nvSpPr>
        <p:spPr>
          <a:xfrm>
            <a:off x="512063" y="2367732"/>
            <a:ext cx="5513832" cy="2532637"/>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ctx_prev-214" descr="ctx_prev">    </p:cNvPr>
          <p:cNvPicPr>
            <a:picLocks noChangeAspect="1"/>
          </p:cNvPicPr>
          <p:nvPr/>
        </p:nvPicPr>
        <p:blipFill>
          <a:blip r:embed="rId1"/>
          <a:stretch>
            <a:fillRect/>
          </a:stretch>
        </p:blipFill>
        <p:spPr>
          <a:xfrm>
            <a:off x="548640" y="2404308"/>
            <a:ext cx="5440680" cy="2459485"/>
          </a:xfrm>
          <a:prstGeom prst="rect">
            <a:avLst/>
          </a:prstGeom>
        </p:spPr>
      </p:pic>
      <p:sp>
        <p:nvSpPr>
          <p:cNvPr id="5" name="tag-215"/>
          <p:cNvSpPr txBox="1"/>
          <p:nvPr/>
        </p:nvSpPr>
        <p:spPr>
          <a:xfrm>
            <a:off x="548640" y="2020260"/>
            <a:ext cx="1636776"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새로고침 후 복원</a:t>
            </a:r>
            <a:endParaRPr lang="en-US" sz="1200" dirty="0"/>
          </a:p>
        </p:txBody>
      </p:sp>
      <p:sp>
        <p:nvSpPr>
          <p:cNvPr id="6" name="cap-216"/>
          <p:cNvSpPr txBox="1"/>
          <p:nvPr/>
        </p:nvSpPr>
        <p:spPr>
          <a:xfrm>
            <a:off x="548640" y="4991809"/>
            <a:ext cx="5440680" cy="548640"/>
          </a:xfrm>
          <a:prstGeom prst="rect">
            <a:avLst/>
          </a:prstGeom>
          <a:noFill/>
          <a:ln/>
        </p:spPr>
        <p:txBody>
          <a:bodyPr wrap="square" lIns="0" tIns="0" rIns="0" bIns="0" rtlCol="0" anchor="t"/>
          <a:lstStyle/>
          <a:p>
            <a:pPr algn="ctr" indent="0" marL="0">
              <a:buNone/>
            </a:pPr>
            <a:r>
              <a:rPr lang="en-US" sz="1400" dirty="0">
                <a:solidFill>
                  <a:schemeClr val="tx2"/>
                </a:solidFill>
              </a:rPr>
              <a:t>앞선 payments 진단이 새로고침 후에도 그대로 복원</a:t>
            </a:r>
            <a:endParaRPr lang="en-US" sz="1400" dirty="0"/>
          </a:p>
        </p:txBody>
      </p:sp>
      <p:sp>
        <p:nvSpPr>
          <p:cNvPr id="7" name="frame-ctx_followup-217"/>
          <p:cNvSpPr/>
          <p:nvPr/>
        </p:nvSpPr>
        <p:spPr>
          <a:xfrm>
            <a:off x="6163056" y="2367732"/>
            <a:ext cx="5513832" cy="2607167"/>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ctx_followup-218" descr="ctx_followup">    </p:cNvPr>
          <p:cNvPicPr>
            <a:picLocks noChangeAspect="1"/>
          </p:cNvPicPr>
          <p:nvPr/>
        </p:nvPicPr>
        <p:blipFill>
          <a:blip r:embed="rId2"/>
          <a:stretch>
            <a:fillRect/>
          </a:stretch>
        </p:blipFill>
        <p:spPr>
          <a:xfrm>
            <a:off x="6199632" y="2404308"/>
            <a:ext cx="5440680" cy="2534015"/>
          </a:xfrm>
          <a:prstGeom prst="rect">
            <a:avLst/>
          </a:prstGeom>
        </p:spPr>
      </p:pic>
      <p:sp>
        <p:nvSpPr>
          <p:cNvPr id="9" name="tag-219"/>
          <p:cNvSpPr txBox="1"/>
          <p:nvPr/>
        </p:nvSpPr>
        <p:spPr>
          <a:xfrm>
            <a:off x="6199632" y="2020260"/>
            <a:ext cx="105156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후속 질문</a:t>
            </a:r>
            <a:endParaRPr lang="en-US" sz="1200" dirty="0"/>
          </a:p>
        </p:txBody>
      </p:sp>
      <p:sp>
        <p:nvSpPr>
          <p:cNvPr id="10" name="cap-220"/>
          <p:cNvSpPr txBox="1"/>
          <p:nvPr/>
        </p:nvSpPr>
        <p:spPr>
          <a:xfrm>
            <a:off x="6199632" y="5066339"/>
            <a:ext cx="5440680" cy="548640"/>
          </a:xfrm>
          <a:prstGeom prst="rect">
            <a:avLst/>
          </a:prstGeom>
          <a:noFill/>
          <a:ln/>
        </p:spPr>
        <p:txBody>
          <a:bodyPr wrap="square" lIns="0" tIns="0" rIns="0" bIns="0" rtlCol="0" anchor="t"/>
          <a:lstStyle/>
          <a:p>
            <a:pPr algn="ctr" indent="0" marL="0">
              <a:buNone/>
            </a:pPr>
            <a:r>
              <a:rPr lang="en-US" sz="1400" dirty="0">
                <a:solidFill>
                  <a:schemeClr val="tx2"/>
                </a:solidFill>
              </a:rPr>
              <a:t>“그 서비스 다시 확인해줘” → payments를 새로 조회 (10:38:52 관측)</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추가 1·3  5개 영역 보고서와 이전·현재 비교</a:t>
            </a:r>
            <a:endParaRPr lang="en-US" sz="2800" dirty="0"/>
          </a:p>
        </p:txBody>
      </p:sp>
      <p:sp>
        <p:nvSpPr>
          <p:cNvPr id="3" name="frame-multi_report-221"/>
          <p:cNvSpPr/>
          <p:nvPr/>
        </p:nvSpPr>
        <p:spPr>
          <a:xfrm>
            <a:off x="512063" y="1872954"/>
            <a:ext cx="5376672" cy="3589616"/>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multi_report-222" descr="multi_report">    </p:cNvPr>
          <p:cNvPicPr>
            <a:picLocks noChangeAspect="1"/>
          </p:cNvPicPr>
          <p:nvPr/>
        </p:nvPicPr>
        <p:blipFill>
          <a:blip r:embed="rId1"/>
          <a:stretch>
            <a:fillRect/>
          </a:stretch>
        </p:blipFill>
        <p:spPr>
          <a:xfrm>
            <a:off x="548640" y="1909530"/>
            <a:ext cx="5303520" cy="3516464"/>
          </a:xfrm>
          <a:prstGeom prst="rect">
            <a:avLst/>
          </a:prstGeom>
        </p:spPr>
      </p:pic>
      <p:sp>
        <p:nvSpPr>
          <p:cNvPr id="5" name="tag-223"/>
          <p:cNvSpPr txBox="1"/>
          <p:nvPr/>
        </p:nvSpPr>
        <p:spPr>
          <a:xfrm>
            <a:off x="548640" y="1525482"/>
            <a:ext cx="1636776"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검증 통과 보고서</a:t>
            </a:r>
            <a:endParaRPr lang="en-US" sz="1200" dirty="0"/>
          </a:p>
        </p:txBody>
      </p:sp>
      <p:sp>
        <p:nvSpPr>
          <p:cNvPr id="6" name="cap-224"/>
          <p:cNvSpPr txBox="1"/>
          <p:nvPr/>
        </p:nvSpPr>
        <p:spPr>
          <a:xfrm>
            <a:off x="548640" y="5554010"/>
            <a:ext cx="5303520" cy="548640"/>
          </a:xfrm>
          <a:prstGeom prst="rect">
            <a:avLst/>
          </a:prstGeom>
          <a:noFill/>
          <a:ln/>
        </p:spPr>
        <p:txBody>
          <a:bodyPr wrap="square" lIns="0" tIns="0" rIns="0" bIns="0" rtlCol="0" anchor="t"/>
          <a:lstStyle/>
          <a:p>
            <a:pPr algn="ctr" indent="0" marL="0">
              <a:buNone/>
            </a:pPr>
            <a:r>
              <a:rPr lang="en-US" sz="1400" dirty="0">
                <a:solidFill>
                  <a:schemeClr val="tx2"/>
                </a:solidFill>
              </a:rPr>
              <a:t>관측값 → 분석(가설·미확정) → 권장 조치(조건부) → 미확인 → 출처</a:t>
            </a:r>
            <a:endParaRPr lang="en-US" sz="1400" dirty="0"/>
          </a:p>
        </p:txBody>
      </p:sp>
      <p:sp>
        <p:nvSpPr>
          <p:cNvPr id="7" name="frame-compare-225"/>
          <p:cNvSpPr/>
          <p:nvPr/>
        </p:nvSpPr>
        <p:spPr>
          <a:xfrm>
            <a:off x="6227064" y="1872954"/>
            <a:ext cx="5376672" cy="3596723"/>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compare-226" descr="compare">    </p:cNvPr>
          <p:cNvPicPr>
            <a:picLocks noChangeAspect="1"/>
          </p:cNvPicPr>
          <p:nvPr/>
        </p:nvPicPr>
        <p:blipFill>
          <a:blip r:embed="rId2"/>
          <a:stretch>
            <a:fillRect/>
          </a:stretch>
        </p:blipFill>
        <p:spPr>
          <a:xfrm>
            <a:off x="6263640" y="1909530"/>
            <a:ext cx="5303520" cy="3523571"/>
          </a:xfrm>
          <a:prstGeom prst="rect">
            <a:avLst/>
          </a:prstGeom>
        </p:spPr>
      </p:pic>
      <p:sp>
        <p:nvSpPr>
          <p:cNvPr id="9" name="tag-227"/>
          <p:cNvSpPr txBox="1"/>
          <p:nvPr/>
        </p:nvSpPr>
        <p:spPr>
          <a:xfrm>
            <a:off x="6263640" y="1525482"/>
            <a:ext cx="105156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상태 비교</a:t>
            </a:r>
            <a:endParaRPr lang="en-US" sz="1200" dirty="0"/>
          </a:p>
        </p:txBody>
      </p:sp>
      <p:sp>
        <p:nvSpPr>
          <p:cNvPr id="10" name="cap-228"/>
          <p:cNvSpPr txBox="1"/>
          <p:nvPr/>
        </p:nvSpPr>
        <p:spPr>
          <a:xfrm>
            <a:off x="6263640" y="5561117"/>
            <a:ext cx="5303520" cy="548640"/>
          </a:xfrm>
          <a:prstGeom prst="rect">
            <a:avLst/>
          </a:prstGeom>
          <a:noFill/>
          <a:ln/>
        </p:spPr>
        <p:txBody>
          <a:bodyPr wrap="square" lIns="0" tIns="0" rIns="0" bIns="0" rtlCol="0" anchor="t"/>
          <a:lstStyle/>
          <a:p>
            <a:pPr algn="ctr" indent="0" marL="0">
              <a:buNone/>
            </a:pPr>
            <a:r>
              <a:rPr lang="en-US" sz="1400" dirty="0">
                <a:solidFill>
                  <a:schemeClr val="tx2"/>
                </a:solidFill>
              </a:rPr>
              <a:t>CPU 98.5% → 93.7% (−4.8%p) · 알림 유지 · 복구 단정은 하지 않음</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추가 2·4  전체 조사 이력과 Markdown 내보내기</a:t>
            </a:r>
            <a:endParaRPr lang="en-US" sz="2800" dirty="0"/>
          </a:p>
        </p:txBody>
      </p:sp>
      <p:sp>
        <p:nvSpPr>
          <p:cNvPr id="3" name="frame-history-229"/>
          <p:cNvSpPr/>
          <p:nvPr/>
        </p:nvSpPr>
        <p:spPr>
          <a:xfrm>
            <a:off x="649224" y="1655064"/>
            <a:ext cx="4005072" cy="400507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history-230" descr="history">    </p:cNvPr>
          <p:cNvPicPr>
            <a:picLocks noChangeAspect="1"/>
          </p:cNvPicPr>
          <p:nvPr/>
        </p:nvPicPr>
        <p:blipFill>
          <a:blip r:embed="rId1"/>
          <a:stretch>
            <a:fillRect/>
          </a:stretch>
        </p:blipFill>
        <p:spPr>
          <a:xfrm>
            <a:off x="685800" y="1691640"/>
            <a:ext cx="3931920" cy="3931920"/>
          </a:xfrm>
          <a:prstGeom prst="rect">
            <a:avLst/>
          </a:prstGeom>
        </p:spPr>
      </p:pic>
      <p:sp>
        <p:nvSpPr>
          <p:cNvPr id="5" name="tag-231"/>
          <p:cNvSpPr txBox="1"/>
          <p:nvPr/>
        </p:nvSpPr>
        <p:spPr>
          <a:xfrm>
            <a:off x="649224" y="1280160"/>
            <a:ext cx="105156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전체 조사</a:t>
            </a:r>
            <a:endParaRPr lang="en-US" sz="1200" dirty="0"/>
          </a:p>
        </p:txBody>
      </p:sp>
      <p:sp>
        <p:nvSpPr>
          <p:cNvPr id="6" name="cap-232"/>
          <p:cNvSpPr txBox="1"/>
          <p:nvPr/>
        </p:nvSpPr>
        <p:spPr>
          <a:xfrm>
            <a:off x="548640" y="5733288"/>
            <a:ext cx="4206240" cy="640080"/>
          </a:xfrm>
          <a:prstGeom prst="rect">
            <a:avLst/>
          </a:prstGeom>
          <a:noFill/>
          <a:ln/>
        </p:spPr>
        <p:txBody>
          <a:bodyPr wrap="square" lIns="0" tIns="0" rIns="0" bIns="0" rtlCol="0" anchor="t"/>
          <a:lstStyle/>
          <a:p>
            <a:pPr algn="ctr" indent="0" marL="0">
              <a:buNone/>
            </a:pPr>
            <a:r>
              <a:rPr lang="en-US" sz="1400" dirty="0">
                <a:solidFill>
                  <a:schemeClr val="tx2"/>
                </a:solidFill>
              </a:rPr>
              <a:t>전체 조사 / 현재 대화 필터</a:t>
            </a:r>
            <a:endParaRPr lang="en-US" sz="1400" dirty="0"/>
          </a:p>
          <a:p>
            <a:pPr algn="ctr" indent="0" marL="0">
              <a:buNone/>
            </a:pPr>
            <a:r>
              <a:rPr lang="en-US" sz="1400" dirty="0">
                <a:solidFill>
                  <a:schemeClr val="tx2"/>
                </a:solidFill>
              </a:rPr>
              <a:t>새 대화 이후에도 이전 조사 기록 조회</a:t>
            </a:r>
            <a:endParaRPr lang="en-US" sz="1400" dirty="0"/>
          </a:p>
        </p:txBody>
      </p:sp>
      <p:sp>
        <p:nvSpPr>
          <p:cNvPr id="7" name="frame-md_file-233"/>
          <p:cNvSpPr/>
          <p:nvPr/>
        </p:nvSpPr>
        <p:spPr>
          <a:xfrm>
            <a:off x="5359612" y="1655064"/>
            <a:ext cx="5922856" cy="295351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md_file-234" descr="md_file">    </p:cNvPr>
          <p:cNvPicPr>
            <a:picLocks noChangeAspect="1"/>
          </p:cNvPicPr>
          <p:nvPr/>
        </p:nvPicPr>
        <p:blipFill>
          <a:blip r:embed="rId2"/>
          <a:stretch>
            <a:fillRect/>
          </a:stretch>
        </p:blipFill>
        <p:spPr>
          <a:xfrm>
            <a:off x="5396188" y="1691640"/>
            <a:ext cx="5849704" cy="2880360"/>
          </a:xfrm>
          <a:prstGeom prst="rect">
            <a:avLst/>
          </a:prstGeom>
        </p:spPr>
      </p:pic>
      <p:sp>
        <p:nvSpPr>
          <p:cNvPr id="9" name="tag-235"/>
          <p:cNvSpPr txBox="1"/>
          <p:nvPr/>
        </p:nvSpPr>
        <p:spPr>
          <a:xfrm>
            <a:off x="5359612" y="1280160"/>
            <a:ext cx="1490472"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내려받은 .md</a:t>
            </a:r>
            <a:endParaRPr lang="en-US" sz="1200" dirty="0"/>
          </a:p>
        </p:txBody>
      </p:sp>
      <p:sp>
        <p:nvSpPr>
          <p:cNvPr id="10" name="cap-236"/>
          <p:cNvSpPr txBox="1"/>
          <p:nvPr/>
        </p:nvSpPr>
        <p:spPr>
          <a:xfrm>
            <a:off x="4983480" y="4681728"/>
            <a:ext cx="6675120" cy="365760"/>
          </a:xfrm>
          <a:prstGeom prst="rect">
            <a:avLst/>
          </a:prstGeom>
          <a:noFill/>
          <a:ln/>
        </p:spPr>
        <p:txBody>
          <a:bodyPr wrap="square" lIns="0" tIns="0" rIns="0" bIns="0" rtlCol="0" anchor="t"/>
          <a:lstStyle/>
          <a:p>
            <a:pPr algn="ctr" indent="0" marL="0">
              <a:buNone/>
            </a:pPr>
            <a:r>
              <a:rPr lang="en-US" sz="1400" dirty="0">
                <a:solidFill>
                  <a:schemeClr val="tx2"/>
                </a:solidFill>
              </a:rPr>
              <a:t>화면 보고서와 같은 내용·검증 상태·출처를 파일로 저장</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LangSmith 추적과 테스트로 확인</a:t>
            </a:r>
            <a:endParaRPr lang="en-US" sz="2800" dirty="0"/>
          </a:p>
        </p:txBody>
      </p:sp>
      <p:sp>
        <p:nvSpPr>
          <p:cNvPr id="3" name="frame-langsmith_tree-239"/>
          <p:cNvSpPr/>
          <p:nvPr/>
        </p:nvSpPr>
        <p:spPr>
          <a:xfrm>
            <a:off x="795528" y="1655064"/>
            <a:ext cx="6272784" cy="4114459"/>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langsmith_tree-240" descr="langsmith_tree">    </p:cNvPr>
          <p:cNvPicPr>
            <a:picLocks noChangeAspect="1"/>
          </p:cNvPicPr>
          <p:nvPr/>
        </p:nvPicPr>
        <p:blipFill>
          <a:blip r:embed="rId1"/>
          <a:stretch>
            <a:fillRect/>
          </a:stretch>
        </p:blipFill>
        <p:spPr>
          <a:xfrm>
            <a:off x="832104" y="1691640"/>
            <a:ext cx="6199632" cy="4041307"/>
          </a:xfrm>
          <a:prstGeom prst="rect">
            <a:avLst/>
          </a:prstGeom>
        </p:spPr>
      </p:pic>
      <p:sp>
        <p:nvSpPr>
          <p:cNvPr id="5" name="tag-241"/>
          <p:cNvSpPr txBox="1"/>
          <p:nvPr/>
        </p:nvSpPr>
        <p:spPr>
          <a:xfrm>
            <a:off x="796299" y="1280160"/>
            <a:ext cx="329184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100" b="1" dirty="0">
                <a:solidFill>
                  <a:schemeClr val="bg1"/>
                </a:solidFill>
              </a:rPr>
              <a:t>LangSmith 실제 추적 (예시 요청)</a:t>
            </a:r>
            <a:endParaRPr lang="en-US" sz="1100" dirty="0"/>
          </a:p>
        </p:txBody>
      </p:sp>
      <p:sp>
        <p:nvSpPr>
          <p:cNvPr id="6" name="txt-242"/>
          <p:cNvSpPr txBox="1"/>
          <p:nvPr/>
        </p:nvSpPr>
        <p:spPr>
          <a:xfrm>
            <a:off x="7680960" y="1325880"/>
            <a:ext cx="3931920" cy="777240"/>
          </a:xfrm>
          <a:prstGeom prst="rect">
            <a:avLst/>
          </a:prstGeom>
          <a:noFill/>
          <a:ln/>
        </p:spPr>
        <p:txBody>
          <a:bodyPr wrap="square" lIns="0" tIns="0" rIns="0" bIns="0" rtlCol="0" anchor="b"/>
          <a:lstStyle/>
          <a:p>
            <a:pPr indent="0" marL="0">
              <a:buNone/>
            </a:pPr>
            <a:r>
              <a:rPr lang="en-US" sz="4400" b="1" dirty="0">
                <a:solidFill>
                  <a:schemeClr val="accent1"/>
                </a:solidFill>
              </a:rPr>
              <a:t>130</a:t>
            </a:r>
            <a:endParaRPr lang="en-US" sz="4400" dirty="0"/>
          </a:p>
        </p:txBody>
      </p:sp>
      <p:sp>
        <p:nvSpPr>
          <p:cNvPr id="7" name="txt-243"/>
          <p:cNvSpPr txBox="1"/>
          <p:nvPr/>
        </p:nvSpPr>
        <p:spPr>
          <a:xfrm>
            <a:off x="7680960" y="2130552"/>
            <a:ext cx="3931920" cy="347472"/>
          </a:xfrm>
          <a:prstGeom prst="rect">
            <a:avLst/>
          </a:prstGeom>
          <a:noFill/>
          <a:ln/>
        </p:spPr>
        <p:txBody>
          <a:bodyPr wrap="square" lIns="0" tIns="0" rIns="0" bIns="0" rtlCol="0" anchor="t"/>
          <a:lstStyle/>
          <a:p>
            <a:pPr indent="0" marL="0">
              <a:buNone/>
            </a:pPr>
            <a:r>
              <a:rPr lang="en-US" sz="1600" b="1" dirty="0">
                <a:solidFill>
                  <a:schemeClr val="tx1"/>
                </a:solidFill>
              </a:rPr>
              <a:t>Python 테스트</a:t>
            </a:r>
            <a:endParaRPr lang="en-US" sz="1600" dirty="0"/>
          </a:p>
        </p:txBody>
      </p:sp>
      <p:sp>
        <p:nvSpPr>
          <p:cNvPr id="8" name="txt-244"/>
          <p:cNvSpPr txBox="1"/>
          <p:nvPr/>
        </p:nvSpPr>
        <p:spPr>
          <a:xfrm>
            <a:off x="7680960" y="2468880"/>
            <a:ext cx="3931920" cy="292608"/>
          </a:xfrm>
          <a:prstGeom prst="rect">
            <a:avLst/>
          </a:prstGeom>
          <a:noFill/>
          <a:ln/>
        </p:spPr>
        <p:txBody>
          <a:bodyPr wrap="square" lIns="0" tIns="0" rIns="0" bIns="0" rtlCol="0" anchor="t"/>
          <a:lstStyle/>
          <a:p>
            <a:pPr indent="0" marL="0">
              <a:buNone/>
            </a:pPr>
            <a:r>
              <a:rPr lang="en-US" sz="1400" dirty="0">
                <a:solidFill>
                  <a:schemeClr val="tx2"/>
                </a:solidFill>
              </a:rPr>
              <a:t>단위·API·MCP·SSE 혼합</a:t>
            </a:r>
            <a:endParaRPr lang="en-US" sz="1400" dirty="0"/>
          </a:p>
        </p:txBody>
      </p:sp>
      <p:sp>
        <p:nvSpPr>
          <p:cNvPr id="9" name="txt-245"/>
          <p:cNvSpPr txBox="1"/>
          <p:nvPr/>
        </p:nvSpPr>
        <p:spPr>
          <a:xfrm>
            <a:off x="7680960" y="2926080"/>
            <a:ext cx="3931920" cy="777240"/>
          </a:xfrm>
          <a:prstGeom prst="rect">
            <a:avLst/>
          </a:prstGeom>
          <a:noFill/>
          <a:ln/>
        </p:spPr>
        <p:txBody>
          <a:bodyPr wrap="square" lIns="0" tIns="0" rIns="0" bIns="0" rtlCol="0" anchor="b"/>
          <a:lstStyle/>
          <a:p>
            <a:pPr indent="0" marL="0">
              <a:buNone/>
            </a:pPr>
            <a:r>
              <a:rPr lang="en-US" sz="4400" b="1" dirty="0">
                <a:solidFill>
                  <a:schemeClr val="accent1"/>
                </a:solidFill>
              </a:rPr>
              <a:t>35 / 35</a:t>
            </a:r>
            <a:endParaRPr lang="en-US" sz="4400" dirty="0"/>
          </a:p>
        </p:txBody>
      </p:sp>
      <p:sp>
        <p:nvSpPr>
          <p:cNvPr id="10" name="txt-246"/>
          <p:cNvSpPr txBox="1"/>
          <p:nvPr/>
        </p:nvSpPr>
        <p:spPr>
          <a:xfrm>
            <a:off x="7680960" y="3730752"/>
            <a:ext cx="3931920" cy="347472"/>
          </a:xfrm>
          <a:prstGeom prst="rect">
            <a:avLst/>
          </a:prstGeom>
          <a:noFill/>
          <a:ln/>
        </p:spPr>
        <p:txBody>
          <a:bodyPr wrap="square" lIns="0" tIns="0" rIns="0" bIns="0" rtlCol="0" anchor="t"/>
          <a:lstStyle/>
          <a:p>
            <a:pPr indent="0" marL="0">
              <a:buNone/>
            </a:pPr>
            <a:r>
              <a:rPr lang="en-US" sz="1600" b="1" dirty="0">
                <a:solidFill>
                  <a:schemeClr val="tx1"/>
                </a:solidFill>
              </a:rPr>
              <a:t>정답 검증셋 자동 판정</a:t>
            </a:r>
            <a:endParaRPr lang="en-US" sz="1600" dirty="0"/>
          </a:p>
        </p:txBody>
      </p:sp>
      <p:sp>
        <p:nvSpPr>
          <p:cNvPr id="11" name="txt-247"/>
          <p:cNvSpPr txBox="1"/>
          <p:nvPr/>
        </p:nvSpPr>
        <p:spPr>
          <a:xfrm>
            <a:off x="7680960" y="4069080"/>
            <a:ext cx="3931920" cy="292608"/>
          </a:xfrm>
          <a:prstGeom prst="rect">
            <a:avLst/>
          </a:prstGeom>
          <a:noFill/>
          <a:ln/>
        </p:spPr>
        <p:txBody>
          <a:bodyPr wrap="square" lIns="0" tIns="0" rIns="0" bIns="0" rtlCol="0" anchor="t"/>
          <a:lstStyle/>
          <a:p>
            <a:pPr indent="0" marL="0">
              <a:buNone/>
            </a:pPr>
            <a:r>
              <a:rPr lang="en-US" sz="1400" dirty="0">
                <a:solidFill>
                  <a:schemeClr val="tx2"/>
                </a:solidFill>
              </a:rPr>
              <a:t>+ 연결 계약 4건 별도</a:t>
            </a:r>
            <a:endParaRPr lang="en-US" sz="1400" dirty="0"/>
          </a:p>
        </p:txBody>
      </p:sp>
      <p:sp>
        <p:nvSpPr>
          <p:cNvPr id="12" name="txt-248"/>
          <p:cNvSpPr txBox="1"/>
          <p:nvPr/>
        </p:nvSpPr>
        <p:spPr>
          <a:xfrm>
            <a:off x="7680960" y="4526280"/>
            <a:ext cx="3931920" cy="777240"/>
          </a:xfrm>
          <a:prstGeom prst="rect">
            <a:avLst/>
          </a:prstGeom>
          <a:noFill/>
          <a:ln/>
        </p:spPr>
        <p:txBody>
          <a:bodyPr wrap="square" lIns="0" tIns="0" rIns="0" bIns="0" rtlCol="0" anchor="b"/>
          <a:lstStyle/>
          <a:p>
            <a:pPr indent="0" marL="0">
              <a:buNone/>
            </a:pPr>
            <a:r>
              <a:rPr lang="en-US" sz="4400" b="1" dirty="0">
                <a:solidFill>
                  <a:schemeClr val="accent1"/>
                </a:solidFill>
              </a:rPr>
              <a:t>1</a:t>
            </a:r>
            <a:endParaRPr lang="en-US" sz="4400" dirty="0"/>
          </a:p>
        </p:txBody>
      </p:sp>
      <p:sp>
        <p:nvSpPr>
          <p:cNvPr id="13" name="txt-249"/>
          <p:cNvSpPr txBox="1"/>
          <p:nvPr/>
        </p:nvSpPr>
        <p:spPr>
          <a:xfrm>
            <a:off x="7680960" y="5330952"/>
            <a:ext cx="3931920" cy="347472"/>
          </a:xfrm>
          <a:prstGeom prst="rect">
            <a:avLst/>
          </a:prstGeom>
          <a:noFill/>
          <a:ln/>
        </p:spPr>
        <p:txBody>
          <a:bodyPr wrap="square" lIns="0" tIns="0" rIns="0" bIns="0" rtlCol="0" anchor="t"/>
          <a:lstStyle/>
          <a:p>
            <a:pPr indent="0" marL="0">
              <a:buNone/>
            </a:pPr>
            <a:r>
              <a:rPr lang="en-US" sz="1600" b="1" dirty="0">
                <a:solidFill>
                  <a:schemeClr val="tx1"/>
                </a:solidFill>
              </a:rPr>
              <a:t>Node 화면 로직 1개 스크립트</a:t>
            </a:r>
            <a:endParaRPr lang="en-US" sz="1600" dirty="0"/>
          </a:p>
        </p:txBody>
      </p:sp>
      <p:sp>
        <p:nvSpPr>
          <p:cNvPr id="14" name="txt-250"/>
          <p:cNvSpPr txBox="1"/>
          <p:nvPr/>
        </p:nvSpPr>
        <p:spPr>
          <a:xfrm>
            <a:off x="7680960" y="5669280"/>
            <a:ext cx="3931920" cy="292608"/>
          </a:xfrm>
          <a:prstGeom prst="rect">
            <a:avLst/>
          </a:prstGeom>
          <a:noFill/>
          <a:ln/>
        </p:spPr>
        <p:txBody>
          <a:bodyPr wrap="square" lIns="0" tIns="0" rIns="0" bIns="0" rtlCol="0" anchor="t"/>
          <a:lstStyle/>
          <a:p>
            <a:pPr indent="0" marL="0">
              <a:buNone/>
            </a:pPr>
            <a:r>
              <a:rPr lang="en-US" sz="1400" dirty="0">
                <a:solidFill>
                  <a:schemeClr val="tx2"/>
                </a:solidFill>
              </a:rPr>
              <a:t>브라우저 E2E는 별도 확인</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최종 실행 화면 — 단일 서비스 진단</a:t>
            </a:r>
            <a:endParaRPr lang="en-US" sz="2800" dirty="0"/>
          </a:p>
        </p:txBody>
      </p:sp>
      <p:sp>
        <p:nvSpPr>
          <p:cNvPr id="3" name="frame-single_process-251"/>
          <p:cNvSpPr/>
          <p:nvPr/>
        </p:nvSpPr>
        <p:spPr>
          <a:xfrm>
            <a:off x="1226707" y="1655064"/>
            <a:ext cx="4084547" cy="400507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single_process-252" descr="single_process">    </p:cNvPr>
          <p:cNvPicPr>
            <a:picLocks noChangeAspect="1"/>
          </p:cNvPicPr>
          <p:nvPr/>
        </p:nvPicPr>
        <p:blipFill>
          <a:blip r:embed="rId1"/>
          <a:stretch>
            <a:fillRect/>
          </a:stretch>
        </p:blipFill>
        <p:spPr>
          <a:xfrm>
            <a:off x="1263283" y="1691640"/>
            <a:ext cx="4011395" cy="3931920"/>
          </a:xfrm>
          <a:prstGeom prst="rect">
            <a:avLst/>
          </a:prstGeom>
        </p:spPr>
      </p:pic>
      <p:sp>
        <p:nvSpPr>
          <p:cNvPr id="5" name="tag-253"/>
          <p:cNvSpPr txBox="1"/>
          <p:nvPr/>
        </p:nvSpPr>
        <p:spPr>
          <a:xfrm>
            <a:off x="1226707" y="1280160"/>
            <a:ext cx="2075688"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OpenAI + MCP</a:t>
            </a:r>
            <a:endParaRPr lang="en-US" sz="1200" dirty="0"/>
          </a:p>
        </p:txBody>
      </p:sp>
      <p:sp>
        <p:nvSpPr>
          <p:cNvPr id="6" name="cap-254"/>
          <p:cNvSpPr txBox="1"/>
          <p:nvPr/>
        </p:nvSpPr>
        <p:spPr>
          <a:xfrm>
            <a:off x="548640" y="5733288"/>
            <a:ext cx="5440680" cy="365760"/>
          </a:xfrm>
          <a:prstGeom prst="rect">
            <a:avLst/>
          </a:prstGeom>
          <a:noFill/>
          <a:ln/>
        </p:spPr>
        <p:txBody>
          <a:bodyPr wrap="square" lIns="0" tIns="0" rIns="0" bIns="0" rtlCol="0" anchor="t"/>
          <a:lstStyle/>
          <a:p>
            <a:pPr algn="ctr" indent="0" marL="0">
              <a:buNone/>
            </a:pPr>
            <a:r>
              <a:rPr lang="en-US" sz="1400" dirty="0">
                <a:solidFill>
                  <a:schemeClr val="tx2"/>
                </a:solidFill>
              </a:rPr>
              <a:t>질문 → 처리 과정 12단계 → 검증 통과</a:t>
            </a:r>
            <a:endParaRPr lang="en-US" sz="1400" dirty="0"/>
          </a:p>
        </p:txBody>
      </p:sp>
      <p:sp>
        <p:nvSpPr>
          <p:cNvPr id="7" name="frame-single_report-255"/>
          <p:cNvSpPr/>
          <p:nvPr/>
        </p:nvSpPr>
        <p:spPr>
          <a:xfrm>
            <a:off x="6895987" y="1655064"/>
            <a:ext cx="4084547" cy="400507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single_report-256" descr="single_report">    </p:cNvPr>
          <p:cNvPicPr>
            <a:picLocks noChangeAspect="1"/>
          </p:cNvPicPr>
          <p:nvPr/>
        </p:nvPicPr>
        <p:blipFill>
          <a:blip r:embed="rId2"/>
          <a:stretch>
            <a:fillRect/>
          </a:stretch>
        </p:blipFill>
        <p:spPr>
          <a:xfrm>
            <a:off x="6932563" y="1691640"/>
            <a:ext cx="4011395" cy="3931920"/>
          </a:xfrm>
          <a:prstGeom prst="rect">
            <a:avLst/>
          </a:prstGeom>
        </p:spPr>
      </p:pic>
      <p:sp>
        <p:nvSpPr>
          <p:cNvPr id="9" name="tag-257"/>
          <p:cNvSpPr txBox="1"/>
          <p:nvPr/>
        </p:nvSpPr>
        <p:spPr>
          <a:xfrm>
            <a:off x="6895987" y="1280160"/>
            <a:ext cx="2075688"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OpenAI + MCP</a:t>
            </a:r>
            <a:endParaRPr lang="en-US" sz="1200" dirty="0"/>
          </a:p>
        </p:txBody>
      </p:sp>
      <p:sp>
        <p:nvSpPr>
          <p:cNvPr id="10" name="cap-258"/>
          <p:cNvSpPr txBox="1"/>
          <p:nvPr/>
        </p:nvSpPr>
        <p:spPr>
          <a:xfrm>
            <a:off x="6217920" y="5733288"/>
            <a:ext cx="5440680" cy="365760"/>
          </a:xfrm>
          <a:prstGeom prst="rect">
            <a:avLst/>
          </a:prstGeom>
          <a:noFill/>
          <a:ln/>
        </p:spPr>
        <p:txBody>
          <a:bodyPr wrap="square" lIns="0" tIns="0" rIns="0" bIns="0" rtlCol="0" anchor="t"/>
          <a:lstStyle/>
          <a:p>
            <a:pPr algn="ctr" indent="0" marL="0">
              <a:buNone/>
            </a:pPr>
            <a:r>
              <a:rPr lang="en-US" sz="1400" dirty="0">
                <a:solidFill>
                  <a:schemeClr val="tx2"/>
                </a:solidFill>
              </a:rPr>
              <a:t>분석 · 조건부 권장 조치 · 미확인 사항 · 출처</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같은 질문, 실제 실행 비교 — LangSmith 요청 시간</a:t>
            </a:r>
            <a:endParaRPr lang="en-US" sz="2800" dirty="0"/>
          </a:p>
        </p:txBody>
      </p:sp>
      <p:sp>
        <p:nvSpPr>
          <p:cNvPr id="3" name="legend-259"/>
          <p:cNvSpPr/>
          <p:nvPr/>
        </p:nvSpPr>
        <p:spPr>
          <a:xfrm>
            <a:off x="2103120" y="1417320"/>
            <a:ext cx="201168" cy="201168"/>
          </a:xfrm>
          <a:prstGeom prst="rect">
            <a:avLst/>
          </a:prstGeom>
          <a:solidFill>
            <a:schemeClr val="accent2"/>
          </a:solidFill>
          <a:ln/>
        </p:spPr>
      </p:sp>
      <p:sp>
        <p:nvSpPr>
          <p:cNvPr id="4" name="txt-260"/>
          <p:cNvSpPr txBox="1"/>
          <p:nvPr/>
        </p:nvSpPr>
        <p:spPr>
          <a:xfrm>
            <a:off x="2377440" y="1380744"/>
            <a:ext cx="914400" cy="274320"/>
          </a:xfrm>
          <a:prstGeom prst="rect">
            <a:avLst/>
          </a:prstGeom>
          <a:noFill/>
          <a:ln/>
        </p:spPr>
        <p:txBody>
          <a:bodyPr wrap="square" lIns="0" tIns="0" rIns="0" bIns="0" rtlCol="0" anchor="ctr"/>
          <a:lstStyle/>
          <a:p>
            <a:pPr indent="0" marL="0">
              <a:buNone/>
            </a:pPr>
            <a:r>
              <a:rPr lang="en-US" sz="1200" dirty="0">
                <a:solidFill>
                  <a:schemeClr val="tx2"/>
                </a:solidFill>
              </a:rPr>
              <a:t>개선 전</a:t>
            </a:r>
            <a:endParaRPr lang="en-US" sz="1200" dirty="0"/>
          </a:p>
        </p:txBody>
      </p:sp>
      <p:sp>
        <p:nvSpPr>
          <p:cNvPr id="5" name="legend-261"/>
          <p:cNvSpPr/>
          <p:nvPr/>
        </p:nvSpPr>
        <p:spPr>
          <a:xfrm>
            <a:off x="3383280" y="1417320"/>
            <a:ext cx="201168" cy="201168"/>
          </a:xfrm>
          <a:prstGeom prst="rect">
            <a:avLst/>
          </a:prstGeom>
          <a:solidFill>
            <a:schemeClr val="accent1"/>
          </a:solidFill>
          <a:ln/>
        </p:spPr>
      </p:sp>
      <p:sp>
        <p:nvSpPr>
          <p:cNvPr id="6" name="txt-262"/>
          <p:cNvSpPr txBox="1"/>
          <p:nvPr/>
        </p:nvSpPr>
        <p:spPr>
          <a:xfrm>
            <a:off x="3657600" y="1380744"/>
            <a:ext cx="914400" cy="274320"/>
          </a:xfrm>
          <a:prstGeom prst="rect">
            <a:avLst/>
          </a:prstGeom>
          <a:noFill/>
          <a:ln/>
        </p:spPr>
        <p:txBody>
          <a:bodyPr wrap="square" lIns="0" tIns="0" rIns="0" bIns="0" rtlCol="0" anchor="ctr"/>
          <a:lstStyle/>
          <a:p>
            <a:pPr indent="0" marL="0">
              <a:buNone/>
            </a:pPr>
            <a:r>
              <a:rPr lang="en-US" sz="1200" dirty="0">
                <a:solidFill>
                  <a:schemeClr val="tx2"/>
                </a:solidFill>
              </a:rPr>
              <a:t>개선 후</a:t>
            </a:r>
            <a:endParaRPr lang="en-US" sz="1200" dirty="0"/>
          </a:p>
        </p:txBody>
      </p:sp>
      <p:sp>
        <p:nvSpPr>
          <p:cNvPr id="7" name="txt-263"/>
          <p:cNvSpPr txBox="1"/>
          <p:nvPr/>
        </p:nvSpPr>
        <p:spPr>
          <a:xfrm>
            <a:off x="548640" y="1920240"/>
            <a:ext cx="1417320" cy="621792"/>
          </a:xfrm>
          <a:prstGeom prst="rect">
            <a:avLst/>
          </a:prstGeom>
          <a:noFill/>
          <a:ln/>
        </p:spPr>
        <p:txBody>
          <a:bodyPr wrap="square" lIns="0" tIns="0" rIns="0" bIns="0" rtlCol="0" anchor="ctr"/>
          <a:lstStyle/>
          <a:p>
            <a:pPr indent="0" marL="0">
              <a:buNone/>
            </a:pPr>
            <a:r>
              <a:rPr lang="en-US" sz="1400" b="1" dirty="0">
                <a:solidFill>
                  <a:schemeClr val="tx1"/>
                </a:solidFill>
              </a:rPr>
              <a:t>단일 서비스</a:t>
            </a:r>
            <a:endParaRPr lang="en-US" sz="1400" dirty="0"/>
          </a:p>
        </p:txBody>
      </p:sp>
      <p:sp>
        <p:nvSpPr>
          <p:cNvPr id="8" name="bar-264"/>
          <p:cNvSpPr/>
          <p:nvPr/>
        </p:nvSpPr>
        <p:spPr>
          <a:xfrm>
            <a:off x="2103120" y="1920240"/>
            <a:ext cx="3017520" cy="274320"/>
          </a:xfrm>
          <a:prstGeom prst="rect">
            <a:avLst/>
          </a:prstGeom>
          <a:solidFill>
            <a:schemeClr val="accent2"/>
          </a:solidFill>
          <a:ln/>
        </p:spPr>
      </p:sp>
      <p:sp>
        <p:nvSpPr>
          <p:cNvPr id="9" name="txt-265"/>
          <p:cNvSpPr txBox="1"/>
          <p:nvPr/>
        </p:nvSpPr>
        <p:spPr>
          <a:xfrm>
            <a:off x="5212080" y="1892808"/>
            <a:ext cx="914400" cy="329184"/>
          </a:xfrm>
          <a:prstGeom prst="rect">
            <a:avLst/>
          </a:prstGeom>
          <a:noFill/>
          <a:ln/>
        </p:spPr>
        <p:txBody>
          <a:bodyPr wrap="square" lIns="0" tIns="0" rIns="0" bIns="0" rtlCol="0" anchor="ctr"/>
          <a:lstStyle/>
          <a:p>
            <a:pPr indent="0" marL="0">
              <a:buNone/>
            </a:pPr>
            <a:r>
              <a:rPr lang="en-US" sz="1200" dirty="0">
                <a:solidFill>
                  <a:schemeClr val="tx1"/>
                </a:solidFill>
              </a:rPr>
              <a:t>5.50s</a:t>
            </a:r>
            <a:endParaRPr lang="en-US" sz="1200" dirty="0"/>
          </a:p>
        </p:txBody>
      </p:sp>
      <p:sp>
        <p:nvSpPr>
          <p:cNvPr id="10" name="bar-266"/>
          <p:cNvSpPr/>
          <p:nvPr/>
        </p:nvSpPr>
        <p:spPr>
          <a:xfrm>
            <a:off x="2103120" y="2267712"/>
            <a:ext cx="1788566" cy="274320"/>
          </a:xfrm>
          <a:prstGeom prst="rect">
            <a:avLst/>
          </a:prstGeom>
          <a:solidFill>
            <a:schemeClr val="accent1"/>
          </a:solidFill>
          <a:ln/>
        </p:spPr>
      </p:sp>
      <p:sp>
        <p:nvSpPr>
          <p:cNvPr id="11" name="txt-267"/>
          <p:cNvSpPr txBox="1"/>
          <p:nvPr/>
        </p:nvSpPr>
        <p:spPr>
          <a:xfrm>
            <a:off x="3983126" y="2240280"/>
            <a:ext cx="914400" cy="329184"/>
          </a:xfrm>
          <a:prstGeom prst="rect">
            <a:avLst/>
          </a:prstGeom>
          <a:noFill/>
          <a:ln/>
        </p:spPr>
        <p:txBody>
          <a:bodyPr wrap="square" lIns="0" tIns="0" rIns="0" bIns="0" rtlCol="0" anchor="ctr"/>
          <a:lstStyle/>
          <a:p>
            <a:pPr indent="0" marL="0">
              <a:buNone/>
            </a:pPr>
            <a:r>
              <a:rPr lang="en-US" sz="1200" b="1" dirty="0">
                <a:solidFill>
                  <a:schemeClr val="tx1"/>
                </a:solidFill>
              </a:rPr>
              <a:t>3.26s</a:t>
            </a:r>
            <a:endParaRPr lang="en-US" sz="1200" dirty="0"/>
          </a:p>
        </p:txBody>
      </p:sp>
      <p:sp>
        <p:nvSpPr>
          <p:cNvPr id="12" name="txt-268"/>
          <p:cNvSpPr txBox="1"/>
          <p:nvPr/>
        </p:nvSpPr>
        <p:spPr>
          <a:xfrm>
            <a:off x="548640" y="3200400"/>
            <a:ext cx="1417320" cy="621792"/>
          </a:xfrm>
          <a:prstGeom prst="rect">
            <a:avLst/>
          </a:prstGeom>
          <a:noFill/>
          <a:ln/>
        </p:spPr>
        <p:txBody>
          <a:bodyPr wrap="square" lIns="0" tIns="0" rIns="0" bIns="0" rtlCol="0" anchor="ctr"/>
          <a:lstStyle/>
          <a:p>
            <a:pPr indent="0" marL="0">
              <a:buNone/>
            </a:pPr>
            <a:r>
              <a:rPr lang="en-US" sz="1400" b="1" dirty="0">
                <a:solidFill>
                  <a:schemeClr val="tx1"/>
                </a:solidFill>
              </a:rPr>
              <a:t>후속 질문</a:t>
            </a:r>
            <a:endParaRPr lang="en-US" sz="1400" dirty="0"/>
          </a:p>
        </p:txBody>
      </p:sp>
      <p:sp>
        <p:nvSpPr>
          <p:cNvPr id="13" name="bar-269"/>
          <p:cNvSpPr/>
          <p:nvPr/>
        </p:nvSpPr>
        <p:spPr>
          <a:xfrm>
            <a:off x="2103120" y="3200400"/>
            <a:ext cx="1152144" cy="274320"/>
          </a:xfrm>
          <a:prstGeom prst="rect">
            <a:avLst/>
          </a:prstGeom>
          <a:solidFill>
            <a:schemeClr val="accent2"/>
          </a:solidFill>
          <a:ln/>
        </p:spPr>
      </p:sp>
      <p:sp>
        <p:nvSpPr>
          <p:cNvPr id="14" name="txt-270"/>
          <p:cNvSpPr txBox="1"/>
          <p:nvPr/>
        </p:nvSpPr>
        <p:spPr>
          <a:xfrm>
            <a:off x="3346704" y="3172968"/>
            <a:ext cx="914400" cy="329184"/>
          </a:xfrm>
          <a:prstGeom prst="rect">
            <a:avLst/>
          </a:prstGeom>
          <a:noFill/>
          <a:ln/>
        </p:spPr>
        <p:txBody>
          <a:bodyPr wrap="square" lIns="0" tIns="0" rIns="0" bIns="0" rtlCol="0" anchor="ctr"/>
          <a:lstStyle/>
          <a:p>
            <a:pPr indent="0" marL="0">
              <a:buNone/>
            </a:pPr>
            <a:r>
              <a:rPr lang="en-US" sz="1200" dirty="0">
                <a:solidFill>
                  <a:schemeClr val="tx1"/>
                </a:solidFill>
              </a:rPr>
              <a:t>2.11s</a:t>
            </a:r>
            <a:endParaRPr lang="en-US" sz="1200" dirty="0"/>
          </a:p>
        </p:txBody>
      </p:sp>
      <p:sp>
        <p:nvSpPr>
          <p:cNvPr id="15" name="bar-271"/>
          <p:cNvSpPr/>
          <p:nvPr/>
        </p:nvSpPr>
        <p:spPr>
          <a:xfrm>
            <a:off x="2103120" y="3547872"/>
            <a:ext cx="1859889" cy="274320"/>
          </a:xfrm>
          <a:prstGeom prst="rect">
            <a:avLst/>
          </a:prstGeom>
          <a:solidFill>
            <a:schemeClr val="accent1"/>
          </a:solidFill>
          <a:ln/>
        </p:spPr>
      </p:sp>
      <p:sp>
        <p:nvSpPr>
          <p:cNvPr id="16" name="txt-272"/>
          <p:cNvSpPr txBox="1"/>
          <p:nvPr/>
        </p:nvSpPr>
        <p:spPr>
          <a:xfrm>
            <a:off x="4054449" y="3520440"/>
            <a:ext cx="914400" cy="329184"/>
          </a:xfrm>
          <a:prstGeom prst="rect">
            <a:avLst/>
          </a:prstGeom>
          <a:noFill/>
          <a:ln/>
        </p:spPr>
        <p:txBody>
          <a:bodyPr wrap="square" lIns="0" tIns="0" rIns="0" bIns="0" rtlCol="0" anchor="ctr"/>
          <a:lstStyle/>
          <a:p>
            <a:pPr indent="0" marL="0">
              <a:buNone/>
            </a:pPr>
            <a:r>
              <a:rPr lang="en-US" sz="1200" b="1" dirty="0">
                <a:solidFill>
                  <a:schemeClr val="tx1"/>
                </a:solidFill>
              </a:rPr>
              <a:t>3.39s</a:t>
            </a:r>
            <a:endParaRPr lang="en-US" sz="1200" dirty="0"/>
          </a:p>
        </p:txBody>
      </p:sp>
      <p:sp>
        <p:nvSpPr>
          <p:cNvPr id="17" name="txt-273"/>
          <p:cNvSpPr txBox="1"/>
          <p:nvPr/>
        </p:nvSpPr>
        <p:spPr>
          <a:xfrm>
            <a:off x="548640" y="4480560"/>
            <a:ext cx="1417320" cy="621792"/>
          </a:xfrm>
          <a:prstGeom prst="rect">
            <a:avLst/>
          </a:prstGeom>
          <a:noFill/>
          <a:ln/>
        </p:spPr>
        <p:txBody>
          <a:bodyPr wrap="square" lIns="0" tIns="0" rIns="0" bIns="0" rtlCol="0" anchor="ctr"/>
          <a:lstStyle/>
          <a:p>
            <a:pPr indent="0" marL="0">
              <a:buNone/>
            </a:pPr>
            <a:r>
              <a:rPr lang="en-US" sz="1400" b="1" dirty="0">
                <a:solidFill>
                  <a:schemeClr val="tx1"/>
                </a:solidFill>
              </a:rPr>
              <a:t>복수 서비스</a:t>
            </a:r>
            <a:endParaRPr lang="en-US" sz="1400" dirty="0"/>
          </a:p>
        </p:txBody>
      </p:sp>
      <p:sp>
        <p:nvSpPr>
          <p:cNvPr id="18" name="bar-274"/>
          <p:cNvSpPr/>
          <p:nvPr/>
        </p:nvSpPr>
        <p:spPr>
          <a:xfrm>
            <a:off x="2103120" y="4480560"/>
            <a:ext cx="3637483" cy="274320"/>
          </a:xfrm>
          <a:prstGeom prst="rect">
            <a:avLst/>
          </a:prstGeom>
          <a:solidFill>
            <a:schemeClr val="accent2"/>
          </a:solidFill>
          <a:ln/>
        </p:spPr>
      </p:sp>
      <p:sp>
        <p:nvSpPr>
          <p:cNvPr id="19" name="txt-275"/>
          <p:cNvSpPr txBox="1"/>
          <p:nvPr/>
        </p:nvSpPr>
        <p:spPr>
          <a:xfrm>
            <a:off x="5832043" y="4453128"/>
            <a:ext cx="914400" cy="329184"/>
          </a:xfrm>
          <a:prstGeom prst="rect">
            <a:avLst/>
          </a:prstGeom>
          <a:noFill/>
          <a:ln/>
        </p:spPr>
        <p:txBody>
          <a:bodyPr wrap="square" lIns="0" tIns="0" rIns="0" bIns="0" rtlCol="0" anchor="ctr"/>
          <a:lstStyle/>
          <a:p>
            <a:pPr indent="0" marL="0">
              <a:buNone/>
            </a:pPr>
            <a:r>
              <a:rPr lang="en-US" sz="1200" dirty="0">
                <a:solidFill>
                  <a:schemeClr val="tx1"/>
                </a:solidFill>
              </a:rPr>
              <a:t>6.63s</a:t>
            </a:r>
            <a:endParaRPr lang="en-US" sz="1200" dirty="0"/>
          </a:p>
        </p:txBody>
      </p:sp>
      <p:sp>
        <p:nvSpPr>
          <p:cNvPr id="20" name="bar-276"/>
          <p:cNvSpPr/>
          <p:nvPr/>
        </p:nvSpPr>
        <p:spPr>
          <a:xfrm>
            <a:off x="2103120" y="4828032"/>
            <a:ext cx="3297326" cy="274320"/>
          </a:xfrm>
          <a:prstGeom prst="rect">
            <a:avLst/>
          </a:prstGeom>
          <a:solidFill>
            <a:schemeClr val="accent1"/>
          </a:solidFill>
          <a:ln/>
        </p:spPr>
      </p:sp>
      <p:sp>
        <p:nvSpPr>
          <p:cNvPr id="21" name="txt-277"/>
          <p:cNvSpPr txBox="1"/>
          <p:nvPr/>
        </p:nvSpPr>
        <p:spPr>
          <a:xfrm>
            <a:off x="5491886" y="4800600"/>
            <a:ext cx="914400" cy="329184"/>
          </a:xfrm>
          <a:prstGeom prst="rect">
            <a:avLst/>
          </a:prstGeom>
          <a:noFill/>
          <a:ln/>
        </p:spPr>
        <p:txBody>
          <a:bodyPr wrap="square" lIns="0" tIns="0" rIns="0" bIns="0" rtlCol="0" anchor="ctr"/>
          <a:lstStyle/>
          <a:p>
            <a:pPr indent="0" marL="0">
              <a:buNone/>
            </a:pPr>
            <a:r>
              <a:rPr lang="en-US" sz="1200" b="1" dirty="0">
                <a:solidFill>
                  <a:schemeClr val="tx1"/>
                </a:solidFill>
              </a:rPr>
              <a:t>6.01s</a:t>
            </a:r>
            <a:endParaRPr lang="en-US" sz="1200" dirty="0"/>
          </a:p>
        </p:txBody>
      </p:sp>
      <p:sp>
        <p:nvSpPr>
          <p:cNvPr id="22" name="txt-278"/>
          <p:cNvSpPr txBox="1"/>
          <p:nvPr/>
        </p:nvSpPr>
        <p:spPr>
          <a:xfrm>
            <a:off x="7223760" y="1371600"/>
            <a:ext cx="822960" cy="365760"/>
          </a:xfrm>
          <a:prstGeom prst="rect">
            <a:avLst/>
          </a:prstGeom>
          <a:noFill/>
          <a:ln/>
        </p:spPr>
        <p:txBody>
          <a:bodyPr wrap="square" lIns="0" tIns="0" rIns="0" bIns="0" rtlCol="0" anchor="t"/>
          <a:lstStyle/>
          <a:p>
            <a:pPr indent="0" marL="0">
              <a:buNone/>
            </a:pPr>
            <a:r>
              <a:rPr lang="en-US" sz="1500" b="1" dirty="0">
                <a:solidFill>
                  <a:schemeClr val="accent1"/>
                </a:solidFill>
              </a:rPr>
              <a:t>단일</a:t>
            </a:r>
            <a:endParaRPr lang="en-US" sz="1500" dirty="0"/>
          </a:p>
        </p:txBody>
      </p:sp>
      <p:sp>
        <p:nvSpPr>
          <p:cNvPr id="23" name="txt-279"/>
          <p:cNvSpPr txBox="1"/>
          <p:nvPr/>
        </p:nvSpPr>
        <p:spPr>
          <a:xfrm>
            <a:off x="8046720" y="1371600"/>
            <a:ext cx="3566160" cy="365760"/>
          </a:xfrm>
          <a:prstGeom prst="rect">
            <a:avLst/>
          </a:prstGeom>
          <a:noFill/>
          <a:ln/>
        </p:spPr>
        <p:txBody>
          <a:bodyPr wrap="square" lIns="0" tIns="0" rIns="0" bIns="0" rtlCol="0" anchor="t"/>
          <a:lstStyle/>
          <a:p>
            <a:pPr indent="0" marL="0">
              <a:buNone/>
            </a:pPr>
            <a:r>
              <a:rPr lang="en-US" sz="1800" b="1" dirty="0">
                <a:solidFill>
                  <a:schemeClr val="tx1"/>
                </a:solidFill>
              </a:rPr>
              <a:t>5.50s → 3.26s</a:t>
            </a:r>
            <a:endParaRPr lang="en-US" sz="1800" dirty="0"/>
          </a:p>
        </p:txBody>
      </p:sp>
      <p:sp>
        <p:nvSpPr>
          <p:cNvPr id="24" name="txt-280"/>
          <p:cNvSpPr txBox="1"/>
          <p:nvPr/>
        </p:nvSpPr>
        <p:spPr>
          <a:xfrm>
            <a:off x="8046720" y="1783080"/>
            <a:ext cx="3566160" cy="640080"/>
          </a:xfrm>
          <a:prstGeom prst="rect">
            <a:avLst/>
          </a:prstGeom>
          <a:noFill/>
          <a:ln/>
        </p:spPr>
        <p:txBody>
          <a:bodyPr wrap="square" lIns="0" tIns="0" rIns="0" bIns="0" rtlCol="0" anchor="t"/>
          <a:lstStyle/>
          <a:p>
            <a:pPr indent="0" marL="0">
              <a:buNone/>
            </a:pPr>
            <a:r>
              <a:rPr lang="en-US" sz="1300" dirty="0">
                <a:solidFill>
                  <a:schemeClr val="tx2"/>
                </a:solidFill>
              </a:rPr>
              <a:t>개선 전은 첫 Tool 재시도 포함 · 1회 측정 — 속도 개선으로 해석하지 않음</a:t>
            </a:r>
            <a:endParaRPr lang="en-US" sz="1300" dirty="0"/>
          </a:p>
        </p:txBody>
      </p:sp>
      <p:sp>
        <p:nvSpPr>
          <p:cNvPr id="25" name="txt-281"/>
          <p:cNvSpPr txBox="1"/>
          <p:nvPr/>
        </p:nvSpPr>
        <p:spPr>
          <a:xfrm>
            <a:off x="7223760" y="2560320"/>
            <a:ext cx="822960" cy="365760"/>
          </a:xfrm>
          <a:prstGeom prst="rect">
            <a:avLst/>
          </a:prstGeom>
          <a:noFill/>
          <a:ln/>
        </p:spPr>
        <p:txBody>
          <a:bodyPr wrap="square" lIns="0" tIns="0" rIns="0" bIns="0" rtlCol="0" anchor="t"/>
          <a:lstStyle/>
          <a:p>
            <a:pPr indent="0" marL="0">
              <a:buNone/>
            </a:pPr>
            <a:r>
              <a:rPr lang="en-US" sz="1500" b="1" dirty="0">
                <a:solidFill>
                  <a:schemeClr val="accent1"/>
                </a:solidFill>
              </a:rPr>
              <a:t>후속</a:t>
            </a:r>
            <a:endParaRPr lang="en-US" sz="1500" dirty="0"/>
          </a:p>
        </p:txBody>
      </p:sp>
      <p:sp>
        <p:nvSpPr>
          <p:cNvPr id="26" name="txt-282"/>
          <p:cNvSpPr txBox="1"/>
          <p:nvPr/>
        </p:nvSpPr>
        <p:spPr>
          <a:xfrm>
            <a:off x="8046720" y="2560320"/>
            <a:ext cx="3566160" cy="365760"/>
          </a:xfrm>
          <a:prstGeom prst="rect">
            <a:avLst/>
          </a:prstGeom>
          <a:noFill/>
          <a:ln/>
        </p:spPr>
        <p:txBody>
          <a:bodyPr wrap="square" lIns="0" tIns="0" rIns="0" bIns="0" rtlCol="0" anchor="t"/>
          <a:lstStyle/>
          <a:p>
            <a:pPr indent="0" marL="0">
              <a:buNone/>
            </a:pPr>
            <a:r>
              <a:rPr lang="en-US" sz="1800" b="1" dirty="0">
                <a:solidFill>
                  <a:schemeClr val="tx1"/>
                </a:solidFill>
              </a:rPr>
              <a:t>2.11s → 3.39s</a:t>
            </a:r>
            <a:endParaRPr lang="en-US" sz="1800" dirty="0"/>
          </a:p>
        </p:txBody>
      </p:sp>
      <p:sp>
        <p:nvSpPr>
          <p:cNvPr id="27" name="txt-283"/>
          <p:cNvSpPr txBox="1"/>
          <p:nvPr/>
        </p:nvSpPr>
        <p:spPr>
          <a:xfrm>
            <a:off x="8046720" y="2971800"/>
            <a:ext cx="3566160" cy="502920"/>
          </a:xfrm>
          <a:prstGeom prst="rect">
            <a:avLst/>
          </a:prstGeom>
          <a:noFill/>
          <a:ln/>
        </p:spPr>
        <p:txBody>
          <a:bodyPr wrap="square" lIns="0" tIns="0" rIns="0" bIns="0" rtlCol="0" anchor="t"/>
          <a:lstStyle/>
          <a:p>
            <a:pPr indent="0" marL="0">
              <a:buNone/>
            </a:pPr>
            <a:r>
              <a:rPr lang="en-US" sz="1300" dirty="0">
                <a:solidFill>
                  <a:schemeClr val="tx2"/>
                </a:solidFill>
              </a:rPr>
              <a:t>느려졌지만 MCP 0회 → payments 새 조회</a:t>
            </a:r>
            <a:endParaRPr lang="en-US" sz="1300" dirty="0"/>
          </a:p>
        </p:txBody>
      </p:sp>
      <p:sp>
        <p:nvSpPr>
          <p:cNvPr id="28" name="txt-284"/>
          <p:cNvSpPr txBox="1"/>
          <p:nvPr/>
        </p:nvSpPr>
        <p:spPr>
          <a:xfrm>
            <a:off x="7223760" y="3749040"/>
            <a:ext cx="822960" cy="365760"/>
          </a:xfrm>
          <a:prstGeom prst="rect">
            <a:avLst/>
          </a:prstGeom>
          <a:noFill/>
          <a:ln/>
        </p:spPr>
        <p:txBody>
          <a:bodyPr wrap="square" lIns="0" tIns="0" rIns="0" bIns="0" rtlCol="0" anchor="t"/>
          <a:lstStyle/>
          <a:p>
            <a:pPr indent="0" marL="0">
              <a:buNone/>
            </a:pPr>
            <a:r>
              <a:rPr lang="en-US" sz="1500" b="1" dirty="0">
                <a:solidFill>
                  <a:schemeClr val="accent1"/>
                </a:solidFill>
              </a:rPr>
              <a:t>복수</a:t>
            </a:r>
            <a:endParaRPr lang="en-US" sz="1500" dirty="0"/>
          </a:p>
        </p:txBody>
      </p:sp>
      <p:sp>
        <p:nvSpPr>
          <p:cNvPr id="29" name="txt-285"/>
          <p:cNvSpPr txBox="1"/>
          <p:nvPr/>
        </p:nvSpPr>
        <p:spPr>
          <a:xfrm>
            <a:off x="8046720" y="3749040"/>
            <a:ext cx="3566160" cy="365760"/>
          </a:xfrm>
          <a:prstGeom prst="rect">
            <a:avLst/>
          </a:prstGeom>
          <a:noFill/>
          <a:ln/>
        </p:spPr>
        <p:txBody>
          <a:bodyPr wrap="square" lIns="0" tIns="0" rIns="0" bIns="0" rtlCol="0" anchor="t"/>
          <a:lstStyle/>
          <a:p>
            <a:pPr indent="0" marL="0">
              <a:buNone/>
            </a:pPr>
            <a:r>
              <a:rPr lang="en-US" sz="1800" b="1" dirty="0">
                <a:solidFill>
                  <a:schemeClr val="tx1"/>
                </a:solidFill>
              </a:rPr>
              <a:t>6.63s → 6.01s</a:t>
            </a:r>
            <a:endParaRPr lang="en-US" sz="1800" dirty="0"/>
          </a:p>
        </p:txBody>
      </p:sp>
      <p:sp>
        <p:nvSpPr>
          <p:cNvPr id="30" name="txt-286"/>
          <p:cNvSpPr txBox="1"/>
          <p:nvPr/>
        </p:nvSpPr>
        <p:spPr>
          <a:xfrm>
            <a:off x="8046720" y="4160520"/>
            <a:ext cx="3566160" cy="502920"/>
          </a:xfrm>
          <a:prstGeom prst="rect">
            <a:avLst/>
          </a:prstGeom>
          <a:noFill/>
          <a:ln/>
        </p:spPr>
        <p:txBody>
          <a:bodyPr wrap="square" lIns="0" tIns="0" rIns="0" bIns="0" rtlCol="0" anchor="t"/>
          <a:lstStyle/>
          <a:p>
            <a:pPr indent="0" marL="0">
              <a:buNone/>
            </a:pPr>
            <a:r>
              <a:rPr lang="en-US" sz="1300" dirty="0">
                <a:solidFill>
                  <a:schemeClr val="tx2"/>
                </a:solidFill>
              </a:rPr>
              <a:t>두 서비스 조회·서비스별 매뉴얼</a:t>
            </a:r>
            <a:endParaRPr lang="en-US" sz="1300" dirty="0"/>
          </a:p>
        </p:txBody>
      </p:sp>
      <p:sp>
        <p:nvSpPr>
          <p:cNvPr id="31" name="cond-287"/>
          <p:cNvSpPr/>
          <p:nvPr/>
        </p:nvSpPr>
        <p:spPr>
          <a:xfrm>
            <a:off x="7223760" y="4663440"/>
            <a:ext cx="4434840" cy="1645920"/>
          </a:xfrm>
          <a:prstGeom prst="roundRect">
            <a:avLst>
              <a:gd name="adj" fmla="val 6667"/>
            </a:avLst>
          </a:prstGeom>
          <a:solidFill>
            <a:schemeClr val="bg2"/>
          </a:solidFill>
          <a:ln/>
        </p:spPr>
      </p:sp>
      <p:sp>
        <p:nvSpPr>
          <p:cNvPr id="32" name="txt-288"/>
          <p:cNvSpPr txBox="1"/>
          <p:nvPr/>
        </p:nvSpPr>
        <p:spPr>
          <a:xfrm>
            <a:off x="7360920" y="4727448"/>
            <a:ext cx="4206240" cy="1508760"/>
          </a:xfrm>
          <a:prstGeom prst="rect">
            <a:avLst/>
          </a:prstGeom>
          <a:noFill/>
          <a:ln/>
        </p:spPr>
        <p:txBody>
          <a:bodyPr wrap="square" lIns="0" tIns="0" rIns="0" bIns="0" rtlCol="0" anchor="ctr"/>
          <a:lstStyle/>
          <a:p>
            <a:pPr indent="0" marL="0">
              <a:buNone/>
            </a:pPr>
            <a:r>
              <a:rPr lang="en-US" sz="1200" dirty="0">
                <a:solidFill>
                  <a:schemeClr val="tx2"/>
                </a:solidFill>
              </a:rPr>
              <a:t>조건  gpt-4o-mini / gpt-4o · 실제 MCP · 각 1회</a:t>
            </a:r>
            <a:endParaRPr lang="en-US" sz="1200" dirty="0"/>
          </a:p>
          <a:p>
            <a:pPr indent="0" marL="0">
              <a:buNone/>
            </a:pPr>
            <a:r>
              <a:rPr lang="en-US" sz="1200" dirty="0">
                <a:solidFill>
                  <a:schemeClr val="tx2"/>
                </a:solidFill>
              </a:rPr>
              <a:t>개선 전 토큰 922 / 418 / 1,086 · 개선 후 2,119 / 2,135 / 3,394 (어댑터 기록값, 개선 전보다 증가)</a:t>
            </a:r>
            <a:endParaRPr lang="en-US" sz="1200" dirty="0"/>
          </a:p>
          <a:p>
            <a:pPr indent="0" marL="0">
              <a:buNone/>
            </a:pPr>
            <a:r>
              <a:rPr lang="en-US" sz="1200" dirty="0">
                <a:solidFill>
                  <a:schemeClr val="tx2"/>
                </a:solidFill>
              </a:rPr>
              <a:t>개선 후 세 값은 같은 대화의 연속 요청(11:33~11:34)</a:t>
            </a:r>
            <a:endParaRPr lang="en-US" sz="1200" dirty="0"/>
          </a:p>
          <a:p>
            <a:pPr indent="0" marL="0">
              <a:buNone/>
            </a:pPr>
            <a:r>
              <a:rPr lang="en-US" sz="1200" dirty="0">
                <a:solidFill>
                  <a:schemeClr val="tx2"/>
                </a:solidFill>
              </a:rPr>
              <a:t>개선 전은 측정용 루트 · 첫 Tool 재시도 포함 → 속도 향상률·비용 절감으로 일반화하지 않음</a:t>
            </a:r>
            <a:endParaRPr lang="en-US" sz="12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비교 근거 화면 — LangSmith 추적</a:t>
            </a:r>
            <a:endParaRPr lang="en-US" sz="2800" dirty="0"/>
          </a:p>
        </p:txBody>
      </p:sp>
      <p:sp>
        <p:nvSpPr>
          <p:cNvPr id="3" name="tag-289"/>
          <p:cNvSpPr txBox="1"/>
          <p:nvPr/>
        </p:nvSpPr>
        <p:spPr>
          <a:xfrm>
            <a:off x="548640" y="1371600"/>
            <a:ext cx="3566160" cy="292608"/>
          </a:xfrm>
          <a:prstGeom prst="roundRect">
            <a:avLst>
              <a:gd name="adj" fmla="val 156250"/>
            </a:avLst>
          </a:prstGeom>
          <a:solidFill>
            <a:schemeClr val="accent2"/>
          </a:solidFill>
          <a:ln/>
        </p:spPr>
        <p:txBody>
          <a:bodyPr wrap="square" lIns="0" tIns="0" rIns="0" bIns="0" rtlCol="0" anchor="ctr"/>
          <a:lstStyle/>
          <a:p>
            <a:pPr algn="ctr" indent="0" marL="0">
              <a:buNone/>
            </a:pPr>
            <a:r>
              <a:rPr lang="en-US" sz="1200" b="1" dirty="0">
                <a:solidFill>
                  <a:schemeClr val="tx1"/>
                </a:solidFill>
              </a:rPr>
              <a:t>개선 전 · 단일 5.50s · 측정용 루트</a:t>
            </a:r>
            <a:endParaRPr lang="en-US" sz="1200" dirty="0"/>
          </a:p>
        </p:txBody>
      </p:sp>
      <p:sp>
        <p:nvSpPr>
          <p:cNvPr id="4" name="frame-ls_before_single-290"/>
          <p:cNvSpPr/>
          <p:nvPr/>
        </p:nvSpPr>
        <p:spPr>
          <a:xfrm>
            <a:off x="512064" y="1746504"/>
            <a:ext cx="4709482" cy="190195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5" name="shot-ls_before_single-291" descr="ls_before_single">    </p:cNvPr>
          <p:cNvPicPr>
            <a:picLocks noChangeAspect="1"/>
          </p:cNvPicPr>
          <p:nvPr/>
        </p:nvPicPr>
        <p:blipFill>
          <a:blip r:embed="rId1"/>
          <a:stretch>
            <a:fillRect/>
          </a:stretch>
        </p:blipFill>
        <p:spPr>
          <a:xfrm>
            <a:off x="548640" y="1783080"/>
            <a:ext cx="4636330" cy="1828800"/>
          </a:xfrm>
          <a:prstGeom prst="rect">
            <a:avLst/>
          </a:prstGeom>
        </p:spPr>
      </p:pic>
      <p:sp>
        <p:nvSpPr>
          <p:cNvPr id="6" name="tag-292"/>
          <p:cNvSpPr txBox="1"/>
          <p:nvPr/>
        </p:nvSpPr>
        <p:spPr>
          <a:xfrm>
            <a:off x="6217920" y="1371600"/>
            <a:ext cx="356616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개선 후 · 단일 3.26s</a:t>
            </a:r>
            <a:endParaRPr lang="en-US" sz="1200" dirty="0"/>
          </a:p>
        </p:txBody>
      </p:sp>
      <p:sp>
        <p:nvSpPr>
          <p:cNvPr id="7" name="frame-ls_after_single-293"/>
          <p:cNvSpPr/>
          <p:nvPr/>
        </p:nvSpPr>
        <p:spPr>
          <a:xfrm>
            <a:off x="6181344" y="1746504"/>
            <a:ext cx="4681912" cy="190195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txBody>
          <a:bodyPr wrap="square" lIns="182880" tIns="91440" rIns="182880" bIns="91440" rtlCol="0" anchor="ctr"/>
          <a:lstStyle/>
          <a:p>
            <a:pPr algn="ctr" indent="0" marL="0">
              <a:buNone/>
            </a:pPr>
            <a:r>
              <a:rPr lang="ko-KR" sz="2000" b="1" dirty="0">
                <a:solidFill>
                  <a:schemeClr val="tx1"/>
                </a:solidFill>
              </a:rPr>
              <a:t>요청 시간 3.261s · 토큰 2,119</a:t>
            </a:r>
          </a:p>
          <a:p>
            <a:pPr algn="ctr" indent="0" marL="0">
              <a:spcBef>
                <a:spcPts val="600"/>
              </a:spcBef>
              <a:buNone/>
            </a:pPr>
            <a:r>
              <a:rPr lang="ko-KR" sz="1400" dirty="0">
                <a:solidFill>
                  <a:schemeClr val="tx2"/>
                </a:solidFill>
              </a:rPr>
              <a:t>11:33:20 · 같은 대화의 연속 요청(단일→후속→복수)</a:t>
            </a:r>
          </a:p>
          <a:p>
            <a:pPr algn="ctr" indent="0" marL="0">
              <a:spcBef>
                <a:spcPts val="600"/>
              </a:spcBef>
              <a:buNone/>
            </a:pPr>
            <a:r>
              <a:rPr lang="ko-KR" sz="1200" dirty="0">
                <a:solidFill>
                  <a:schemeClr val="tx2"/>
                </a:solidFill>
              </a:rPr>
              <a:t>근거: LANGSMITH_AFTER_MEASUREMENT 문서 (캡처 없음)</a:t>
            </a:r>
          </a:p>
        </p:txBody>
      </p:sp>
      <p:sp>
        <p:nvSpPr>
          <p:cNvPr id="9" name="tag-295"/>
          <p:cNvSpPr txBox="1"/>
          <p:nvPr/>
        </p:nvSpPr>
        <p:spPr>
          <a:xfrm>
            <a:off x="548640" y="3840480"/>
            <a:ext cx="3566160" cy="292608"/>
          </a:xfrm>
          <a:prstGeom prst="roundRect">
            <a:avLst>
              <a:gd name="adj" fmla="val 156250"/>
            </a:avLst>
          </a:prstGeom>
          <a:solidFill>
            <a:schemeClr val="accent2"/>
          </a:solidFill>
          <a:ln/>
        </p:spPr>
        <p:txBody>
          <a:bodyPr wrap="square" lIns="0" tIns="0" rIns="0" bIns="0" rtlCol="0" anchor="ctr"/>
          <a:lstStyle/>
          <a:p>
            <a:pPr algn="ctr" indent="0" marL="0">
              <a:buNone/>
            </a:pPr>
            <a:r>
              <a:rPr lang="en-US" sz="1200" b="1" dirty="0">
                <a:solidFill>
                  <a:schemeClr val="tx1"/>
                </a:solidFill>
              </a:rPr>
              <a:t>개선 전 · 복수 6.63s · 측정용 루트</a:t>
            </a:r>
            <a:endParaRPr lang="en-US" sz="1200" dirty="0"/>
          </a:p>
        </p:txBody>
      </p:sp>
      <p:sp>
        <p:nvSpPr>
          <p:cNvPr id="10" name="frame-ls_before_multi-296"/>
          <p:cNvSpPr/>
          <p:nvPr/>
        </p:nvSpPr>
        <p:spPr>
          <a:xfrm>
            <a:off x="512064" y="4215384"/>
            <a:ext cx="4702445" cy="190195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11" name="shot-ls_before_multi-297" descr="ls_before_multi">    </p:cNvPr>
          <p:cNvPicPr>
            <a:picLocks noChangeAspect="1"/>
          </p:cNvPicPr>
          <p:nvPr/>
        </p:nvPicPr>
        <p:blipFill>
          <a:blip r:embed="rId3"/>
          <a:stretch>
            <a:fillRect/>
          </a:stretch>
        </p:blipFill>
        <p:spPr>
          <a:xfrm>
            <a:off x="548640" y="4251960"/>
            <a:ext cx="4629293" cy="1828800"/>
          </a:xfrm>
          <a:prstGeom prst="rect">
            <a:avLst/>
          </a:prstGeom>
        </p:spPr>
      </p:pic>
      <p:sp>
        <p:nvSpPr>
          <p:cNvPr id="12" name="tag-298"/>
          <p:cNvSpPr txBox="1"/>
          <p:nvPr/>
        </p:nvSpPr>
        <p:spPr>
          <a:xfrm>
            <a:off x="6217920" y="3840480"/>
            <a:ext cx="356616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개선 후 · 복수 6.01s · 요청 루트</a:t>
            </a:r>
            <a:endParaRPr lang="en-US" sz="1200" dirty="0"/>
          </a:p>
        </p:txBody>
      </p:sp>
      <p:sp>
        <p:nvSpPr>
          <p:cNvPr id="13" name="frame-ls_after_multi-299"/>
          <p:cNvSpPr/>
          <p:nvPr/>
        </p:nvSpPr>
        <p:spPr>
          <a:xfrm>
            <a:off x="6181344" y="4215384"/>
            <a:ext cx="4806250" cy="190195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14" name="shot-ls_after_multi-300" descr="ls_after_multi">    </p:cNvPr>
          <p:cNvPicPr>
            <a:picLocks noChangeAspect="1"/>
          </p:cNvPicPr>
          <p:nvPr/>
        </p:nvPicPr>
        <p:blipFill>
          <a:blip r:embed="rId4"/>
          <a:stretch>
            <a:fillRect/>
          </a:stretch>
        </p:blipFill>
        <p:spPr>
          <a:xfrm>
            <a:off x="6217920" y="4251960"/>
            <a:ext cx="4733098" cy="1828800"/>
          </a:xfrm>
          <a:prstGeom prst="rect">
            <a:avLst/>
          </a:prstGeom>
        </p:spPr>
      </p:pic>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같은 조건 고정 비교 — 노드 단위 정확도</a:t>
            </a:r>
            <a:endParaRPr lang="en-US" sz="2800" dirty="0"/>
          </a:p>
        </p:txBody>
      </p:sp>
      <p:sp>
        <p:nvSpPr>
          <p:cNvPr id="3" name="legend-301"/>
          <p:cNvSpPr/>
          <p:nvPr/>
        </p:nvSpPr>
        <p:spPr>
          <a:xfrm>
            <a:off x="2468880" y="1280160"/>
            <a:ext cx="201168" cy="201168"/>
          </a:xfrm>
          <a:prstGeom prst="rect">
            <a:avLst/>
          </a:prstGeom>
          <a:solidFill>
            <a:schemeClr val="accent2"/>
          </a:solidFill>
          <a:ln/>
        </p:spPr>
      </p:sp>
      <p:sp>
        <p:nvSpPr>
          <p:cNvPr id="4" name="txt-302"/>
          <p:cNvSpPr txBox="1"/>
          <p:nvPr/>
        </p:nvSpPr>
        <p:spPr>
          <a:xfrm>
            <a:off x="2743200" y="1243584"/>
            <a:ext cx="914400" cy="274320"/>
          </a:xfrm>
          <a:prstGeom prst="rect">
            <a:avLst/>
          </a:prstGeom>
          <a:noFill/>
          <a:ln/>
        </p:spPr>
        <p:txBody>
          <a:bodyPr wrap="square" lIns="0" tIns="0" rIns="0" bIns="0" rtlCol="0" anchor="ctr"/>
          <a:lstStyle/>
          <a:p>
            <a:pPr indent="0" marL="0">
              <a:buNone/>
            </a:pPr>
            <a:r>
              <a:rPr lang="en-US" sz="1200" dirty="0">
                <a:solidFill>
                  <a:schemeClr val="tx2"/>
                </a:solidFill>
              </a:rPr>
              <a:t>개선 전</a:t>
            </a:r>
            <a:endParaRPr lang="en-US" sz="1200" dirty="0"/>
          </a:p>
        </p:txBody>
      </p:sp>
      <p:sp>
        <p:nvSpPr>
          <p:cNvPr id="5" name="legend-303"/>
          <p:cNvSpPr/>
          <p:nvPr/>
        </p:nvSpPr>
        <p:spPr>
          <a:xfrm>
            <a:off x="3749040" y="1280160"/>
            <a:ext cx="201168" cy="201168"/>
          </a:xfrm>
          <a:prstGeom prst="rect">
            <a:avLst/>
          </a:prstGeom>
          <a:solidFill>
            <a:schemeClr val="accent1"/>
          </a:solidFill>
          <a:ln/>
        </p:spPr>
      </p:sp>
      <p:sp>
        <p:nvSpPr>
          <p:cNvPr id="6" name="txt-304"/>
          <p:cNvSpPr txBox="1"/>
          <p:nvPr/>
        </p:nvSpPr>
        <p:spPr>
          <a:xfrm>
            <a:off x="4023360" y="1243584"/>
            <a:ext cx="914400" cy="274320"/>
          </a:xfrm>
          <a:prstGeom prst="rect">
            <a:avLst/>
          </a:prstGeom>
          <a:noFill/>
          <a:ln/>
        </p:spPr>
        <p:txBody>
          <a:bodyPr wrap="square" lIns="0" tIns="0" rIns="0" bIns="0" rtlCol="0" anchor="ctr"/>
          <a:lstStyle/>
          <a:p>
            <a:pPr indent="0" marL="0">
              <a:buNone/>
            </a:pPr>
            <a:r>
              <a:rPr lang="en-US" sz="1200" dirty="0">
                <a:solidFill>
                  <a:schemeClr val="tx2"/>
                </a:solidFill>
              </a:rPr>
              <a:t>개선 후</a:t>
            </a:r>
            <a:endParaRPr lang="en-US" sz="1200" dirty="0"/>
          </a:p>
        </p:txBody>
      </p:sp>
      <p:sp>
        <p:nvSpPr>
          <p:cNvPr id="7" name="txt-305"/>
          <p:cNvSpPr txBox="1"/>
          <p:nvPr/>
        </p:nvSpPr>
        <p:spPr>
          <a:xfrm>
            <a:off x="548640" y="1783080"/>
            <a:ext cx="1783080" cy="621792"/>
          </a:xfrm>
          <a:prstGeom prst="rect">
            <a:avLst/>
          </a:prstGeom>
          <a:noFill/>
          <a:ln/>
        </p:spPr>
        <p:txBody>
          <a:bodyPr wrap="square" lIns="0" tIns="0" rIns="0" bIns="0" rtlCol="0" anchor="ctr"/>
          <a:lstStyle/>
          <a:p>
            <a:pPr indent="0" marL="0">
              <a:buNone/>
            </a:pPr>
            <a:r>
              <a:rPr lang="en-US" sz="1400" b="1" dirty="0">
                <a:solidFill>
                  <a:schemeClr val="tx1"/>
                </a:solidFill>
              </a:rPr>
              <a:t>요청 대상</a:t>
            </a:r>
            <a:endParaRPr lang="en-US" sz="1400" dirty="0"/>
          </a:p>
          <a:p>
            <a:pPr indent="0" marL="0">
              <a:buNone/>
            </a:pPr>
            <a:r>
              <a:rPr lang="en-US" sz="1400" b="1" dirty="0">
                <a:solidFill>
                  <a:schemeClr val="tx1"/>
                </a:solidFill>
              </a:rPr>
              <a:t>계획 일치</a:t>
            </a:r>
            <a:endParaRPr lang="en-US" sz="1400" dirty="0"/>
          </a:p>
        </p:txBody>
      </p:sp>
      <p:sp>
        <p:nvSpPr>
          <p:cNvPr id="8" name="bar-306"/>
          <p:cNvSpPr/>
          <p:nvPr/>
        </p:nvSpPr>
        <p:spPr>
          <a:xfrm>
            <a:off x="2468880" y="1783080"/>
            <a:ext cx="587829" cy="274320"/>
          </a:xfrm>
          <a:prstGeom prst="rect">
            <a:avLst/>
          </a:prstGeom>
          <a:solidFill>
            <a:schemeClr val="accent2"/>
          </a:solidFill>
          <a:ln/>
        </p:spPr>
      </p:sp>
      <p:sp>
        <p:nvSpPr>
          <p:cNvPr id="9" name="txt-307"/>
          <p:cNvSpPr txBox="1"/>
          <p:nvPr/>
        </p:nvSpPr>
        <p:spPr>
          <a:xfrm>
            <a:off x="3148149" y="1755648"/>
            <a:ext cx="914400" cy="329184"/>
          </a:xfrm>
          <a:prstGeom prst="rect">
            <a:avLst/>
          </a:prstGeom>
          <a:noFill/>
          <a:ln/>
        </p:spPr>
        <p:txBody>
          <a:bodyPr wrap="square" lIns="0" tIns="0" rIns="0" bIns="0" rtlCol="0" anchor="ctr"/>
          <a:lstStyle/>
          <a:p>
            <a:pPr indent="0" marL="0">
              <a:buNone/>
            </a:pPr>
            <a:r>
              <a:rPr lang="en-US" sz="1200" dirty="0">
                <a:solidFill>
                  <a:schemeClr val="tx1"/>
                </a:solidFill>
              </a:rPr>
              <a:t>1/7</a:t>
            </a:r>
            <a:endParaRPr lang="en-US" sz="1200" dirty="0"/>
          </a:p>
        </p:txBody>
      </p:sp>
      <p:sp>
        <p:nvSpPr>
          <p:cNvPr id="10" name="bar-308"/>
          <p:cNvSpPr/>
          <p:nvPr/>
        </p:nvSpPr>
        <p:spPr>
          <a:xfrm>
            <a:off x="2468880" y="2130552"/>
            <a:ext cx="4114800" cy="274320"/>
          </a:xfrm>
          <a:prstGeom prst="rect">
            <a:avLst/>
          </a:prstGeom>
          <a:solidFill>
            <a:schemeClr val="accent1"/>
          </a:solidFill>
          <a:ln/>
        </p:spPr>
      </p:sp>
      <p:sp>
        <p:nvSpPr>
          <p:cNvPr id="11" name="txt-309"/>
          <p:cNvSpPr txBox="1"/>
          <p:nvPr/>
        </p:nvSpPr>
        <p:spPr>
          <a:xfrm>
            <a:off x="6675120" y="2103120"/>
            <a:ext cx="914400" cy="329184"/>
          </a:xfrm>
          <a:prstGeom prst="rect">
            <a:avLst/>
          </a:prstGeom>
          <a:noFill/>
          <a:ln/>
        </p:spPr>
        <p:txBody>
          <a:bodyPr wrap="square" lIns="0" tIns="0" rIns="0" bIns="0" rtlCol="0" anchor="ctr"/>
          <a:lstStyle/>
          <a:p>
            <a:pPr indent="0" marL="0">
              <a:buNone/>
            </a:pPr>
            <a:r>
              <a:rPr lang="en-US" sz="1200" b="1" dirty="0">
                <a:solidFill>
                  <a:schemeClr val="tx1"/>
                </a:solidFill>
              </a:rPr>
              <a:t>7/7</a:t>
            </a:r>
            <a:endParaRPr lang="en-US" sz="1200" dirty="0"/>
          </a:p>
        </p:txBody>
      </p:sp>
      <p:sp>
        <p:nvSpPr>
          <p:cNvPr id="12" name="txt-310"/>
          <p:cNvSpPr txBox="1"/>
          <p:nvPr/>
        </p:nvSpPr>
        <p:spPr>
          <a:xfrm>
            <a:off x="548640" y="2697480"/>
            <a:ext cx="1783080" cy="621792"/>
          </a:xfrm>
          <a:prstGeom prst="rect">
            <a:avLst/>
          </a:prstGeom>
          <a:noFill/>
          <a:ln/>
        </p:spPr>
        <p:txBody>
          <a:bodyPr wrap="square" lIns="0" tIns="0" rIns="0" bIns="0" rtlCol="0" anchor="ctr"/>
          <a:lstStyle/>
          <a:p>
            <a:pPr indent="0" marL="0">
              <a:buNone/>
            </a:pPr>
            <a:r>
              <a:rPr lang="en-US" sz="1400" b="1" dirty="0">
                <a:solidFill>
                  <a:schemeClr val="tx1"/>
                </a:solidFill>
              </a:rPr>
              <a:t>필요 매뉴얼</a:t>
            </a:r>
            <a:endParaRPr lang="en-US" sz="1400" dirty="0"/>
          </a:p>
          <a:p>
            <a:pPr indent="0" marL="0">
              <a:buNone/>
            </a:pPr>
            <a:r>
              <a:rPr lang="en-US" sz="1400" b="1" dirty="0">
                <a:solidFill>
                  <a:schemeClr val="tx1"/>
                </a:solidFill>
              </a:rPr>
              <a:t>집합 일치</a:t>
            </a:r>
            <a:endParaRPr lang="en-US" sz="1400" dirty="0"/>
          </a:p>
        </p:txBody>
      </p:sp>
      <p:sp>
        <p:nvSpPr>
          <p:cNvPr id="13" name="bar-311"/>
          <p:cNvSpPr/>
          <p:nvPr/>
        </p:nvSpPr>
        <p:spPr>
          <a:xfrm>
            <a:off x="2468880" y="2697480"/>
            <a:ext cx="3017520" cy="274320"/>
          </a:xfrm>
          <a:prstGeom prst="rect">
            <a:avLst/>
          </a:prstGeom>
          <a:solidFill>
            <a:schemeClr val="accent2"/>
          </a:solidFill>
          <a:ln/>
        </p:spPr>
      </p:sp>
      <p:sp>
        <p:nvSpPr>
          <p:cNvPr id="14" name="txt-312"/>
          <p:cNvSpPr txBox="1"/>
          <p:nvPr/>
        </p:nvSpPr>
        <p:spPr>
          <a:xfrm>
            <a:off x="5577840" y="2670048"/>
            <a:ext cx="914400" cy="329184"/>
          </a:xfrm>
          <a:prstGeom prst="rect">
            <a:avLst/>
          </a:prstGeom>
          <a:noFill/>
          <a:ln/>
        </p:spPr>
        <p:txBody>
          <a:bodyPr wrap="square" lIns="0" tIns="0" rIns="0" bIns="0" rtlCol="0" anchor="ctr"/>
          <a:lstStyle/>
          <a:p>
            <a:pPr indent="0" marL="0">
              <a:buNone/>
            </a:pPr>
            <a:r>
              <a:rPr lang="en-US" sz="1200" dirty="0">
                <a:solidFill>
                  <a:schemeClr val="tx1"/>
                </a:solidFill>
              </a:rPr>
              <a:t>11/15</a:t>
            </a:r>
            <a:endParaRPr lang="en-US" sz="1200" dirty="0"/>
          </a:p>
        </p:txBody>
      </p:sp>
      <p:sp>
        <p:nvSpPr>
          <p:cNvPr id="15" name="bar-313"/>
          <p:cNvSpPr/>
          <p:nvPr/>
        </p:nvSpPr>
        <p:spPr>
          <a:xfrm>
            <a:off x="2468880" y="3044952"/>
            <a:ext cx="4114800" cy="274320"/>
          </a:xfrm>
          <a:prstGeom prst="rect">
            <a:avLst/>
          </a:prstGeom>
          <a:solidFill>
            <a:schemeClr val="accent1"/>
          </a:solidFill>
          <a:ln/>
        </p:spPr>
      </p:sp>
      <p:sp>
        <p:nvSpPr>
          <p:cNvPr id="16" name="txt-314"/>
          <p:cNvSpPr txBox="1"/>
          <p:nvPr/>
        </p:nvSpPr>
        <p:spPr>
          <a:xfrm>
            <a:off x="6675120" y="3017520"/>
            <a:ext cx="914400" cy="329184"/>
          </a:xfrm>
          <a:prstGeom prst="rect">
            <a:avLst/>
          </a:prstGeom>
          <a:noFill/>
          <a:ln/>
        </p:spPr>
        <p:txBody>
          <a:bodyPr wrap="square" lIns="0" tIns="0" rIns="0" bIns="0" rtlCol="0" anchor="ctr"/>
          <a:lstStyle/>
          <a:p>
            <a:pPr indent="0" marL="0">
              <a:buNone/>
            </a:pPr>
            <a:r>
              <a:rPr lang="en-US" sz="1200" b="1" dirty="0">
                <a:solidFill>
                  <a:schemeClr val="tx1"/>
                </a:solidFill>
              </a:rPr>
              <a:t>15/15</a:t>
            </a:r>
            <a:endParaRPr lang="en-US" sz="1200" dirty="0"/>
          </a:p>
        </p:txBody>
      </p:sp>
      <p:sp>
        <p:nvSpPr>
          <p:cNvPr id="17" name="txt-315"/>
          <p:cNvSpPr txBox="1"/>
          <p:nvPr/>
        </p:nvSpPr>
        <p:spPr>
          <a:xfrm>
            <a:off x="548640" y="3611880"/>
            <a:ext cx="1783080" cy="621792"/>
          </a:xfrm>
          <a:prstGeom prst="rect">
            <a:avLst/>
          </a:prstGeom>
          <a:noFill/>
          <a:ln/>
        </p:spPr>
        <p:txBody>
          <a:bodyPr wrap="square" lIns="0" tIns="0" rIns="0" bIns="0" rtlCol="0" anchor="ctr"/>
          <a:lstStyle/>
          <a:p>
            <a:pPr indent="0" marL="0">
              <a:buNone/>
            </a:pPr>
            <a:r>
              <a:rPr lang="en-US" sz="1400" b="1" dirty="0">
                <a:solidFill>
                  <a:schemeClr val="tx1"/>
                </a:solidFill>
              </a:rPr>
              <a:t>오류 초안 차단</a:t>
            </a:r>
            <a:endParaRPr lang="en-US" sz="1400" dirty="0"/>
          </a:p>
        </p:txBody>
      </p:sp>
      <p:sp>
        <p:nvSpPr>
          <p:cNvPr id="18" name="bar-316"/>
          <p:cNvSpPr/>
          <p:nvPr/>
        </p:nvSpPr>
        <p:spPr>
          <a:xfrm>
            <a:off x="2468880" y="3611880"/>
            <a:ext cx="36576" cy="274320"/>
          </a:xfrm>
          <a:prstGeom prst="rect">
            <a:avLst/>
          </a:prstGeom>
          <a:solidFill>
            <a:schemeClr val="accent2"/>
          </a:solidFill>
          <a:ln/>
        </p:spPr>
      </p:sp>
      <p:sp>
        <p:nvSpPr>
          <p:cNvPr id="19" name="txt-317"/>
          <p:cNvSpPr txBox="1"/>
          <p:nvPr/>
        </p:nvSpPr>
        <p:spPr>
          <a:xfrm>
            <a:off x="2596896" y="3584448"/>
            <a:ext cx="914400" cy="329184"/>
          </a:xfrm>
          <a:prstGeom prst="rect">
            <a:avLst/>
          </a:prstGeom>
          <a:noFill/>
          <a:ln/>
        </p:spPr>
        <p:txBody>
          <a:bodyPr wrap="square" lIns="0" tIns="0" rIns="0" bIns="0" rtlCol="0" anchor="ctr"/>
          <a:lstStyle/>
          <a:p>
            <a:pPr indent="0" marL="0">
              <a:buNone/>
            </a:pPr>
            <a:r>
              <a:rPr lang="en-US" sz="1200" dirty="0">
                <a:solidFill>
                  <a:schemeClr val="tx1"/>
                </a:solidFill>
              </a:rPr>
              <a:t>0/7</a:t>
            </a:r>
            <a:endParaRPr lang="en-US" sz="1200" dirty="0"/>
          </a:p>
        </p:txBody>
      </p:sp>
      <p:sp>
        <p:nvSpPr>
          <p:cNvPr id="20" name="bar-318"/>
          <p:cNvSpPr/>
          <p:nvPr/>
        </p:nvSpPr>
        <p:spPr>
          <a:xfrm>
            <a:off x="2468880" y="3959352"/>
            <a:ext cx="4114800" cy="274320"/>
          </a:xfrm>
          <a:prstGeom prst="rect">
            <a:avLst/>
          </a:prstGeom>
          <a:solidFill>
            <a:schemeClr val="accent1"/>
          </a:solidFill>
          <a:ln/>
        </p:spPr>
      </p:sp>
      <p:sp>
        <p:nvSpPr>
          <p:cNvPr id="21" name="txt-319"/>
          <p:cNvSpPr txBox="1"/>
          <p:nvPr/>
        </p:nvSpPr>
        <p:spPr>
          <a:xfrm>
            <a:off x="6675120" y="3931920"/>
            <a:ext cx="914400" cy="329184"/>
          </a:xfrm>
          <a:prstGeom prst="rect">
            <a:avLst/>
          </a:prstGeom>
          <a:noFill/>
          <a:ln/>
        </p:spPr>
        <p:txBody>
          <a:bodyPr wrap="square" lIns="0" tIns="0" rIns="0" bIns="0" rtlCol="0" anchor="ctr"/>
          <a:lstStyle/>
          <a:p>
            <a:pPr indent="0" marL="0">
              <a:buNone/>
            </a:pPr>
            <a:r>
              <a:rPr lang="en-US" sz="1200" b="1" dirty="0">
                <a:solidFill>
                  <a:schemeClr val="tx1"/>
                </a:solidFill>
              </a:rPr>
              <a:t>7/7</a:t>
            </a:r>
            <a:endParaRPr lang="en-US" sz="1200" dirty="0"/>
          </a:p>
        </p:txBody>
      </p:sp>
      <p:sp>
        <p:nvSpPr>
          <p:cNvPr id="22" name="txt-320"/>
          <p:cNvSpPr txBox="1"/>
          <p:nvPr/>
        </p:nvSpPr>
        <p:spPr>
          <a:xfrm>
            <a:off x="548640" y="4526280"/>
            <a:ext cx="1783080" cy="621792"/>
          </a:xfrm>
          <a:prstGeom prst="rect">
            <a:avLst/>
          </a:prstGeom>
          <a:noFill/>
          <a:ln/>
        </p:spPr>
        <p:txBody>
          <a:bodyPr wrap="square" lIns="0" tIns="0" rIns="0" bIns="0" rtlCol="0" anchor="ctr"/>
          <a:lstStyle/>
          <a:p>
            <a:pPr indent="0" marL="0">
              <a:buNone/>
            </a:pPr>
            <a:r>
              <a:rPr lang="en-US" sz="1400" b="1" dirty="0">
                <a:solidFill>
                  <a:schemeClr val="tx1"/>
                </a:solidFill>
              </a:rPr>
              <a:t>부분 실패</a:t>
            </a:r>
            <a:endParaRPr lang="en-US" sz="1400" dirty="0"/>
          </a:p>
          <a:p>
            <a:pPr indent="0" marL="0">
              <a:buNone/>
            </a:pPr>
            <a:r>
              <a:rPr lang="en-US" sz="1400" b="1" dirty="0">
                <a:solidFill>
                  <a:schemeClr val="tx1"/>
                </a:solidFill>
              </a:rPr>
              <a:t>근거 보존</a:t>
            </a:r>
            <a:endParaRPr lang="en-US" sz="1400" dirty="0"/>
          </a:p>
        </p:txBody>
      </p:sp>
      <p:sp>
        <p:nvSpPr>
          <p:cNvPr id="23" name="bar-321"/>
          <p:cNvSpPr/>
          <p:nvPr/>
        </p:nvSpPr>
        <p:spPr>
          <a:xfrm>
            <a:off x="2468880" y="4526280"/>
            <a:ext cx="36576" cy="274320"/>
          </a:xfrm>
          <a:prstGeom prst="rect">
            <a:avLst/>
          </a:prstGeom>
          <a:solidFill>
            <a:schemeClr val="accent2"/>
          </a:solidFill>
          <a:ln/>
        </p:spPr>
      </p:sp>
      <p:sp>
        <p:nvSpPr>
          <p:cNvPr id="24" name="txt-322"/>
          <p:cNvSpPr txBox="1"/>
          <p:nvPr/>
        </p:nvSpPr>
        <p:spPr>
          <a:xfrm>
            <a:off x="2596896" y="4498848"/>
            <a:ext cx="1280160" cy="329184"/>
          </a:xfrm>
          <a:prstGeom prst="rect">
            <a:avLst/>
          </a:prstGeom>
          <a:noFill/>
          <a:ln/>
        </p:spPr>
        <p:txBody>
          <a:bodyPr wrap="square" lIns="0" tIns="0" rIns="0" bIns="0" rtlCol="0" anchor="ctr"/>
          <a:lstStyle/>
          <a:p>
            <a:pPr indent="0" marL="0">
              <a:buNone/>
            </a:pPr>
            <a:r>
              <a:rPr lang="en-US" sz="1200" dirty="0">
                <a:solidFill>
                  <a:schemeClr val="tx1"/>
                </a:solidFill>
              </a:rPr>
              <a:t>0/1 (n=1)</a:t>
            </a:r>
            <a:endParaRPr lang="en-US" sz="1200" dirty="0"/>
          </a:p>
        </p:txBody>
      </p:sp>
      <p:sp>
        <p:nvSpPr>
          <p:cNvPr id="25" name="bar-323"/>
          <p:cNvSpPr/>
          <p:nvPr/>
        </p:nvSpPr>
        <p:spPr>
          <a:xfrm>
            <a:off x="2468880" y="4873752"/>
            <a:ext cx="4114800" cy="274320"/>
          </a:xfrm>
          <a:prstGeom prst="rect">
            <a:avLst/>
          </a:prstGeom>
          <a:solidFill>
            <a:schemeClr val="accent1"/>
          </a:solidFill>
          <a:ln/>
        </p:spPr>
      </p:sp>
      <p:sp>
        <p:nvSpPr>
          <p:cNvPr id="26" name="txt-324"/>
          <p:cNvSpPr txBox="1"/>
          <p:nvPr/>
        </p:nvSpPr>
        <p:spPr>
          <a:xfrm>
            <a:off x="6675120" y="4846320"/>
            <a:ext cx="1280160" cy="329184"/>
          </a:xfrm>
          <a:prstGeom prst="rect">
            <a:avLst/>
          </a:prstGeom>
          <a:noFill/>
          <a:ln/>
        </p:spPr>
        <p:txBody>
          <a:bodyPr wrap="square" lIns="0" tIns="0" rIns="0" bIns="0" rtlCol="0" anchor="ctr"/>
          <a:lstStyle/>
          <a:p>
            <a:pPr indent="0" marL="0">
              <a:buNone/>
            </a:pPr>
            <a:r>
              <a:rPr lang="en-US" sz="1200" b="1" dirty="0">
                <a:solidFill>
                  <a:schemeClr val="tx1"/>
                </a:solidFill>
              </a:rPr>
              <a:t>1/1 (n=1)</a:t>
            </a:r>
            <a:endParaRPr lang="en-US" sz="1200" dirty="0"/>
          </a:p>
        </p:txBody>
      </p:sp>
      <p:sp>
        <p:nvSpPr>
          <p:cNvPr id="27" name="txt-325"/>
          <p:cNvSpPr txBox="1"/>
          <p:nvPr/>
        </p:nvSpPr>
        <p:spPr>
          <a:xfrm>
            <a:off x="548640" y="5440680"/>
            <a:ext cx="1783080" cy="621792"/>
          </a:xfrm>
          <a:prstGeom prst="rect">
            <a:avLst/>
          </a:prstGeom>
          <a:noFill/>
          <a:ln/>
        </p:spPr>
        <p:txBody>
          <a:bodyPr wrap="square" lIns="0" tIns="0" rIns="0" bIns="0" rtlCol="0" anchor="ctr"/>
          <a:lstStyle/>
          <a:p>
            <a:pPr indent="0" marL="0">
              <a:buNone/>
            </a:pPr>
            <a:r>
              <a:rPr lang="en-US" sz="1400" b="1" dirty="0">
                <a:solidFill>
                  <a:schemeClr val="tx1"/>
                </a:solidFill>
              </a:rPr>
              <a:t>없는 문서</a:t>
            </a:r>
            <a:endParaRPr lang="en-US" sz="1400" dirty="0"/>
          </a:p>
          <a:p>
            <a:pPr indent="0" marL="0">
              <a:buNone/>
            </a:pPr>
            <a:r>
              <a:rPr lang="en-US" sz="1400" b="1" dirty="0">
                <a:solidFill>
                  <a:schemeClr val="tx1"/>
                </a:solidFill>
              </a:rPr>
              <a:t>충분 판정 방지</a:t>
            </a:r>
            <a:endParaRPr lang="en-US" sz="1400" dirty="0"/>
          </a:p>
        </p:txBody>
      </p:sp>
      <p:sp>
        <p:nvSpPr>
          <p:cNvPr id="28" name="bar-326"/>
          <p:cNvSpPr/>
          <p:nvPr/>
        </p:nvSpPr>
        <p:spPr>
          <a:xfrm>
            <a:off x="2468880" y="5440680"/>
            <a:ext cx="36576" cy="274320"/>
          </a:xfrm>
          <a:prstGeom prst="rect">
            <a:avLst/>
          </a:prstGeom>
          <a:solidFill>
            <a:schemeClr val="accent2"/>
          </a:solidFill>
          <a:ln/>
        </p:spPr>
      </p:sp>
      <p:sp>
        <p:nvSpPr>
          <p:cNvPr id="29" name="txt-327"/>
          <p:cNvSpPr txBox="1"/>
          <p:nvPr/>
        </p:nvSpPr>
        <p:spPr>
          <a:xfrm>
            <a:off x="2596896" y="5413248"/>
            <a:ext cx="1280160" cy="329184"/>
          </a:xfrm>
          <a:prstGeom prst="rect">
            <a:avLst/>
          </a:prstGeom>
          <a:noFill/>
          <a:ln/>
        </p:spPr>
        <p:txBody>
          <a:bodyPr wrap="square" lIns="0" tIns="0" rIns="0" bIns="0" rtlCol="0" anchor="ctr"/>
          <a:lstStyle/>
          <a:p>
            <a:pPr indent="0" marL="0">
              <a:buNone/>
            </a:pPr>
            <a:r>
              <a:rPr lang="en-US" sz="1200" dirty="0">
                <a:solidFill>
                  <a:schemeClr val="tx1"/>
                </a:solidFill>
              </a:rPr>
              <a:t>0/1 (n=1)</a:t>
            </a:r>
            <a:endParaRPr lang="en-US" sz="1200" dirty="0"/>
          </a:p>
        </p:txBody>
      </p:sp>
      <p:sp>
        <p:nvSpPr>
          <p:cNvPr id="30" name="bar-328"/>
          <p:cNvSpPr/>
          <p:nvPr/>
        </p:nvSpPr>
        <p:spPr>
          <a:xfrm>
            <a:off x="2468880" y="5788152"/>
            <a:ext cx="4114800" cy="274320"/>
          </a:xfrm>
          <a:prstGeom prst="rect">
            <a:avLst/>
          </a:prstGeom>
          <a:solidFill>
            <a:schemeClr val="accent1"/>
          </a:solidFill>
          <a:ln/>
        </p:spPr>
      </p:sp>
      <p:sp>
        <p:nvSpPr>
          <p:cNvPr id="31" name="txt-329"/>
          <p:cNvSpPr txBox="1"/>
          <p:nvPr/>
        </p:nvSpPr>
        <p:spPr>
          <a:xfrm>
            <a:off x="6675120" y="5760720"/>
            <a:ext cx="1280160" cy="329184"/>
          </a:xfrm>
          <a:prstGeom prst="rect">
            <a:avLst/>
          </a:prstGeom>
          <a:noFill/>
          <a:ln/>
        </p:spPr>
        <p:txBody>
          <a:bodyPr wrap="square" lIns="0" tIns="0" rIns="0" bIns="0" rtlCol="0" anchor="ctr"/>
          <a:lstStyle/>
          <a:p>
            <a:pPr indent="0" marL="0">
              <a:buNone/>
            </a:pPr>
            <a:r>
              <a:rPr lang="en-US" sz="1200" b="1" dirty="0">
                <a:solidFill>
                  <a:schemeClr val="tx1"/>
                </a:solidFill>
              </a:rPr>
              <a:t>1/1 (n=1)</a:t>
            </a:r>
            <a:endParaRPr lang="en-US" sz="1200" dirty="0"/>
          </a:p>
        </p:txBody>
      </p:sp>
      <p:sp>
        <p:nvSpPr>
          <p:cNvPr id="32" name="txt-330"/>
          <p:cNvSpPr txBox="1"/>
          <p:nvPr/>
        </p:nvSpPr>
        <p:spPr>
          <a:xfrm>
            <a:off x="7863840" y="1325880"/>
            <a:ext cx="3749040" cy="457200"/>
          </a:xfrm>
          <a:prstGeom prst="rect">
            <a:avLst/>
          </a:prstGeom>
          <a:noFill/>
          <a:ln/>
        </p:spPr>
        <p:txBody>
          <a:bodyPr wrap="square" lIns="0" tIns="0" rIns="0" bIns="0" rtlCol="0" anchor="t"/>
          <a:lstStyle/>
          <a:p>
            <a:pPr indent="0" marL="0">
              <a:buNone/>
            </a:pPr>
            <a:r>
              <a:rPr lang="en-US" sz="2200" b="1" dirty="0">
                <a:solidFill>
                  <a:schemeClr val="accent1"/>
                </a:solidFill>
              </a:rPr>
              <a:t>1/7 → 7/7</a:t>
            </a:r>
            <a:endParaRPr lang="en-US" sz="2200" dirty="0"/>
          </a:p>
        </p:txBody>
      </p:sp>
      <p:sp>
        <p:nvSpPr>
          <p:cNvPr id="33" name="txt-331"/>
          <p:cNvSpPr txBox="1"/>
          <p:nvPr/>
        </p:nvSpPr>
        <p:spPr>
          <a:xfrm>
            <a:off x="7863840" y="1783080"/>
            <a:ext cx="3749040" cy="320040"/>
          </a:xfrm>
          <a:prstGeom prst="rect">
            <a:avLst/>
          </a:prstGeom>
          <a:noFill/>
          <a:ln/>
        </p:spPr>
        <p:txBody>
          <a:bodyPr wrap="square" lIns="0" tIns="0" rIns="0" bIns="0" rtlCol="0" anchor="t"/>
          <a:lstStyle/>
          <a:p>
            <a:pPr indent="0" marL="0">
              <a:buNone/>
            </a:pPr>
            <a:r>
              <a:rPr lang="en-US" sz="1300" dirty="0">
                <a:solidFill>
                  <a:schemeClr val="tx2"/>
                </a:solidFill>
              </a:rPr>
              <a:t>대상 계획 일치</a:t>
            </a:r>
            <a:endParaRPr lang="en-US" sz="1300" dirty="0"/>
          </a:p>
        </p:txBody>
      </p:sp>
      <p:sp>
        <p:nvSpPr>
          <p:cNvPr id="34" name="txt-332"/>
          <p:cNvSpPr txBox="1"/>
          <p:nvPr/>
        </p:nvSpPr>
        <p:spPr>
          <a:xfrm>
            <a:off x="7863840" y="2258568"/>
            <a:ext cx="3749040" cy="457200"/>
          </a:xfrm>
          <a:prstGeom prst="rect">
            <a:avLst/>
          </a:prstGeom>
          <a:noFill/>
          <a:ln/>
        </p:spPr>
        <p:txBody>
          <a:bodyPr wrap="square" lIns="0" tIns="0" rIns="0" bIns="0" rtlCol="0" anchor="t"/>
          <a:lstStyle/>
          <a:p>
            <a:pPr indent="0" marL="0">
              <a:buNone/>
            </a:pPr>
            <a:r>
              <a:rPr lang="en-US" sz="2200" b="1" dirty="0">
                <a:solidFill>
                  <a:schemeClr val="accent1"/>
                </a:solidFill>
              </a:rPr>
              <a:t>11/15 → 15/15</a:t>
            </a:r>
            <a:endParaRPr lang="en-US" sz="2200" dirty="0"/>
          </a:p>
        </p:txBody>
      </p:sp>
      <p:sp>
        <p:nvSpPr>
          <p:cNvPr id="35" name="txt-333"/>
          <p:cNvSpPr txBox="1"/>
          <p:nvPr/>
        </p:nvSpPr>
        <p:spPr>
          <a:xfrm>
            <a:off x="7863840" y="2715768"/>
            <a:ext cx="3749040" cy="320040"/>
          </a:xfrm>
          <a:prstGeom prst="rect">
            <a:avLst/>
          </a:prstGeom>
          <a:noFill/>
          <a:ln/>
        </p:spPr>
        <p:txBody>
          <a:bodyPr wrap="square" lIns="0" tIns="0" rIns="0" bIns="0" rtlCol="0" anchor="t"/>
          <a:lstStyle/>
          <a:p>
            <a:pPr indent="0" marL="0">
              <a:buNone/>
            </a:pPr>
            <a:r>
              <a:rPr lang="en-US" sz="1300" dirty="0">
                <a:solidFill>
                  <a:schemeClr val="tx2"/>
                </a:solidFill>
              </a:rPr>
              <a:t>매뉴얼 집합</a:t>
            </a:r>
            <a:endParaRPr lang="en-US" sz="1300" dirty="0"/>
          </a:p>
        </p:txBody>
      </p:sp>
      <p:sp>
        <p:nvSpPr>
          <p:cNvPr id="36" name="txt-334"/>
          <p:cNvSpPr txBox="1"/>
          <p:nvPr/>
        </p:nvSpPr>
        <p:spPr>
          <a:xfrm>
            <a:off x="7863840" y="3191256"/>
            <a:ext cx="3749040" cy="457200"/>
          </a:xfrm>
          <a:prstGeom prst="rect">
            <a:avLst/>
          </a:prstGeom>
          <a:noFill/>
          <a:ln/>
        </p:spPr>
        <p:txBody>
          <a:bodyPr wrap="square" lIns="0" tIns="0" rIns="0" bIns="0" rtlCol="0" anchor="t"/>
          <a:lstStyle/>
          <a:p>
            <a:pPr indent="0" marL="0">
              <a:buNone/>
            </a:pPr>
            <a:r>
              <a:rPr lang="en-US" sz="2200" b="1" dirty="0">
                <a:solidFill>
                  <a:schemeClr val="accent1"/>
                </a:solidFill>
              </a:rPr>
              <a:t>0/7 → 7/7</a:t>
            </a:r>
            <a:endParaRPr lang="en-US" sz="2200" dirty="0"/>
          </a:p>
        </p:txBody>
      </p:sp>
      <p:sp>
        <p:nvSpPr>
          <p:cNvPr id="37" name="txt-335"/>
          <p:cNvSpPr txBox="1"/>
          <p:nvPr/>
        </p:nvSpPr>
        <p:spPr>
          <a:xfrm>
            <a:off x="7863840" y="3648456"/>
            <a:ext cx="3749040" cy="320040"/>
          </a:xfrm>
          <a:prstGeom prst="rect">
            <a:avLst/>
          </a:prstGeom>
          <a:noFill/>
          <a:ln/>
        </p:spPr>
        <p:txBody>
          <a:bodyPr wrap="square" lIns="0" tIns="0" rIns="0" bIns="0" rtlCol="0" anchor="t"/>
          <a:lstStyle/>
          <a:p>
            <a:pPr indent="0" marL="0">
              <a:buNone/>
            </a:pPr>
            <a:r>
              <a:rPr lang="en-US" sz="1300" dirty="0">
                <a:solidFill>
                  <a:schemeClr val="tx2"/>
                </a:solidFill>
              </a:rPr>
              <a:t>오류 초안 차단</a:t>
            </a:r>
            <a:endParaRPr lang="en-US" sz="1300" dirty="0"/>
          </a:p>
        </p:txBody>
      </p:sp>
      <p:sp>
        <p:nvSpPr>
          <p:cNvPr id="38" name="txt-336"/>
          <p:cNvSpPr txBox="1"/>
          <p:nvPr/>
        </p:nvSpPr>
        <p:spPr>
          <a:xfrm>
            <a:off x="7863840" y="4123944"/>
            <a:ext cx="3749040" cy="457200"/>
          </a:xfrm>
          <a:prstGeom prst="rect">
            <a:avLst/>
          </a:prstGeom>
          <a:noFill/>
          <a:ln/>
        </p:spPr>
        <p:txBody>
          <a:bodyPr wrap="square" lIns="0" tIns="0" rIns="0" bIns="0" rtlCol="0" anchor="t"/>
          <a:lstStyle/>
          <a:p>
            <a:pPr indent="0" marL="0">
              <a:buNone/>
            </a:pPr>
            <a:r>
              <a:rPr lang="en-US" sz="2200" b="1" dirty="0">
                <a:solidFill>
                  <a:schemeClr val="tx1"/>
                </a:solidFill>
              </a:rPr>
              <a:t>0/2 → 0/2</a:t>
            </a:r>
            <a:endParaRPr lang="en-US" sz="2200" dirty="0"/>
          </a:p>
        </p:txBody>
      </p:sp>
      <p:sp>
        <p:nvSpPr>
          <p:cNvPr id="39" name="txt-337"/>
          <p:cNvSpPr txBox="1"/>
          <p:nvPr/>
        </p:nvSpPr>
        <p:spPr>
          <a:xfrm>
            <a:off x="7863840" y="4581144"/>
            <a:ext cx="3749040" cy="320040"/>
          </a:xfrm>
          <a:prstGeom prst="rect">
            <a:avLst/>
          </a:prstGeom>
          <a:noFill/>
          <a:ln/>
        </p:spPr>
        <p:txBody>
          <a:bodyPr wrap="square" lIns="0" tIns="0" rIns="0" bIns="0" rtlCol="0" anchor="t"/>
          <a:lstStyle/>
          <a:p>
            <a:pPr indent="0" marL="0">
              <a:buNone/>
            </a:pPr>
            <a:r>
              <a:rPr lang="en-US" sz="1300" dirty="0">
                <a:solidFill>
                  <a:schemeClr val="tx2"/>
                </a:solidFill>
              </a:rPr>
              <a:t>정답 초안 오차단 (낮을수록 좋음)</a:t>
            </a:r>
            <a:endParaRPr lang="en-US" sz="1300" dirty="0"/>
          </a:p>
        </p:txBody>
      </p:sp>
      <p:sp>
        <p:nvSpPr>
          <p:cNvPr id="40" name="tag-338"/>
          <p:cNvSpPr txBox="1"/>
          <p:nvPr/>
        </p:nvSpPr>
        <p:spPr>
          <a:xfrm>
            <a:off x="7863840" y="5166360"/>
            <a:ext cx="2651760" cy="292608"/>
          </a:xfrm>
          <a:prstGeom prst="roundRect">
            <a:avLst>
              <a:gd name="adj" fmla="val 156250"/>
            </a:avLst>
          </a:prstGeom>
          <a:solidFill>
            <a:schemeClr val="tx2"/>
          </a:solidFill>
          <a:ln/>
        </p:spPr>
        <p:txBody>
          <a:bodyPr wrap="square" lIns="0" tIns="0" rIns="0" bIns="0" rtlCol="0" anchor="ctr"/>
          <a:lstStyle/>
          <a:p>
            <a:pPr algn="ctr" indent="0" marL="0">
              <a:buNone/>
            </a:pPr>
            <a:r>
              <a:rPr lang="en-US" sz="1200" b="1" dirty="0">
                <a:solidFill>
                  <a:schemeClr val="bg1"/>
                </a:solidFill>
              </a:rPr>
              <a:t>고정 관측·고정 계획 · 1회</a:t>
            </a:r>
            <a:endParaRPr lang="en-US" sz="1200" dirty="0"/>
          </a:p>
        </p:txBody>
      </p:sp>
      <p:sp>
        <p:nvSpPr>
          <p:cNvPr id="41" name="txt-339"/>
          <p:cNvSpPr txBox="1"/>
          <p:nvPr/>
        </p:nvSpPr>
        <p:spPr>
          <a:xfrm>
            <a:off x="7863840" y="5577840"/>
            <a:ext cx="3749040" cy="320040"/>
          </a:xfrm>
          <a:prstGeom prst="rect">
            <a:avLst/>
          </a:prstGeom>
          <a:noFill/>
          <a:ln/>
        </p:spPr>
        <p:txBody>
          <a:bodyPr wrap="square" lIns="0" tIns="0" rIns="0" bIns="0" rtlCol="0" anchor="t"/>
          <a:lstStyle/>
          <a:p>
            <a:pPr indent="0" marL="0">
              <a:buNone/>
            </a:pPr>
            <a:r>
              <a:rPr lang="en-US" sz="1400" dirty="0">
                <a:solidFill>
                  <a:schemeClr val="tx2"/>
                </a:solidFill>
              </a:rPr>
              <a:t>실제 LLM 전체 정확도가 아님</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같은 누락 계획을 넣었을 때 — 원본 vs 개선판</a:t>
            </a:r>
            <a:endParaRPr lang="en-US" sz="2800" dirty="0"/>
          </a:p>
        </p:txBody>
      </p:sp>
      <p:sp>
        <p:nvSpPr>
          <p:cNvPr id="3" name="frame-pair_before-340"/>
          <p:cNvSpPr/>
          <p:nvPr/>
        </p:nvSpPr>
        <p:spPr>
          <a:xfrm>
            <a:off x="778487" y="1746504"/>
            <a:ext cx="4980986" cy="382219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pair_before-341" descr="pair_before">    </p:cNvPr>
          <p:cNvPicPr>
            <a:picLocks noChangeAspect="1"/>
          </p:cNvPicPr>
          <p:nvPr/>
        </p:nvPicPr>
        <p:blipFill>
          <a:blip r:embed="rId1"/>
          <a:stretch>
            <a:fillRect/>
          </a:stretch>
        </p:blipFill>
        <p:spPr>
          <a:xfrm>
            <a:off x="815063" y="1783080"/>
            <a:ext cx="4907834" cy="3749040"/>
          </a:xfrm>
          <a:prstGeom prst="rect">
            <a:avLst/>
          </a:prstGeom>
        </p:spPr>
      </p:pic>
      <p:sp>
        <p:nvSpPr>
          <p:cNvPr id="5" name="tag-342"/>
          <p:cNvSpPr txBox="1"/>
          <p:nvPr/>
        </p:nvSpPr>
        <p:spPr>
          <a:xfrm>
            <a:off x="778487" y="1371600"/>
            <a:ext cx="914400" cy="292608"/>
          </a:xfrm>
          <a:prstGeom prst="roundRect">
            <a:avLst>
              <a:gd name="adj" fmla="val 156250"/>
            </a:avLst>
          </a:prstGeom>
          <a:solidFill>
            <a:schemeClr val="accent2"/>
          </a:solidFill>
          <a:ln/>
        </p:spPr>
        <p:txBody>
          <a:bodyPr wrap="square" lIns="0" tIns="0" rIns="0" bIns="0" rtlCol="0" anchor="ctr"/>
          <a:lstStyle/>
          <a:p>
            <a:pPr algn="ctr" indent="0" marL="0">
              <a:buNone/>
            </a:pPr>
            <a:r>
              <a:rPr lang="en-US" sz="1200" b="1" dirty="0">
                <a:solidFill>
                  <a:schemeClr val="tx1"/>
                </a:solidFill>
              </a:rPr>
              <a:t>개선 전</a:t>
            </a:r>
            <a:endParaRPr lang="en-US" sz="1200" dirty="0"/>
          </a:p>
        </p:txBody>
      </p:sp>
      <p:sp>
        <p:nvSpPr>
          <p:cNvPr id="6" name="cap-343"/>
          <p:cNvSpPr txBox="1"/>
          <p:nvPr/>
        </p:nvSpPr>
        <p:spPr>
          <a:xfrm>
            <a:off x="548640" y="5641848"/>
            <a:ext cx="5440680" cy="365760"/>
          </a:xfrm>
          <a:prstGeom prst="rect">
            <a:avLst/>
          </a:prstGeom>
          <a:noFill/>
          <a:ln/>
        </p:spPr>
        <p:txBody>
          <a:bodyPr wrap="square" lIns="0" tIns="0" rIns="0" bIns="0" rtlCol="0" anchor="t"/>
          <a:lstStyle/>
          <a:p>
            <a:pPr algn="ctr" indent="0" marL="0">
              <a:buNone/>
            </a:pPr>
            <a:r>
              <a:rPr lang="en-US" sz="1400" dirty="0">
                <a:solidFill>
                  <a:schemeClr val="tx2"/>
                </a:solidFill>
              </a:rPr>
              <a:t>cache가 빠진 계획을 그대로 실행 → payments만 조사</a:t>
            </a:r>
            <a:endParaRPr lang="en-US" sz="1400" dirty="0"/>
          </a:p>
        </p:txBody>
      </p:sp>
      <p:sp>
        <p:nvSpPr>
          <p:cNvPr id="7" name="frame-pair_after-344"/>
          <p:cNvSpPr/>
          <p:nvPr/>
        </p:nvSpPr>
        <p:spPr>
          <a:xfrm>
            <a:off x="6447767" y="1746504"/>
            <a:ext cx="4980986" cy="382219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8" name="shot-pair_after-345" descr="pair_after">    </p:cNvPr>
          <p:cNvPicPr>
            <a:picLocks noChangeAspect="1"/>
          </p:cNvPicPr>
          <p:nvPr/>
        </p:nvPicPr>
        <p:blipFill>
          <a:blip r:embed="rId2"/>
          <a:stretch>
            <a:fillRect/>
          </a:stretch>
        </p:blipFill>
        <p:spPr>
          <a:xfrm>
            <a:off x="6484343" y="1783080"/>
            <a:ext cx="4907834" cy="3749040"/>
          </a:xfrm>
          <a:prstGeom prst="rect">
            <a:avLst/>
          </a:prstGeom>
        </p:spPr>
      </p:pic>
      <p:sp>
        <p:nvSpPr>
          <p:cNvPr id="9" name="tag-346"/>
          <p:cNvSpPr txBox="1"/>
          <p:nvPr/>
        </p:nvSpPr>
        <p:spPr>
          <a:xfrm>
            <a:off x="6447767" y="1371600"/>
            <a:ext cx="914400" cy="292608"/>
          </a:xfrm>
          <a:prstGeom prst="roundRect">
            <a:avLst>
              <a:gd name="adj" fmla="val 156250"/>
            </a:avLst>
          </a:prstGeom>
          <a:solidFill>
            <a:schemeClr val="accent1"/>
          </a:solidFill>
          <a:ln/>
        </p:spPr>
        <p:txBody>
          <a:bodyPr wrap="square" lIns="0" tIns="0" rIns="0" bIns="0" rtlCol="0" anchor="ctr"/>
          <a:lstStyle/>
          <a:p>
            <a:pPr algn="ctr" indent="0" marL="0">
              <a:buNone/>
            </a:pPr>
            <a:r>
              <a:rPr lang="en-US" sz="1200" b="1" dirty="0">
                <a:solidFill>
                  <a:schemeClr val="bg1"/>
                </a:solidFill>
              </a:rPr>
              <a:t>개선 후</a:t>
            </a:r>
            <a:endParaRPr lang="en-US" sz="1200" dirty="0"/>
          </a:p>
        </p:txBody>
      </p:sp>
      <p:sp>
        <p:nvSpPr>
          <p:cNvPr id="10" name="cap-347"/>
          <p:cNvSpPr txBox="1"/>
          <p:nvPr/>
        </p:nvSpPr>
        <p:spPr>
          <a:xfrm>
            <a:off x="6217920" y="5641848"/>
            <a:ext cx="5440680" cy="365760"/>
          </a:xfrm>
          <a:prstGeom prst="rect">
            <a:avLst/>
          </a:prstGeom>
          <a:noFill/>
          <a:ln/>
        </p:spPr>
        <p:txBody>
          <a:bodyPr wrap="square" lIns="0" tIns="0" rIns="0" bIns="0" rtlCol="0" anchor="t"/>
          <a:lstStyle/>
          <a:p>
            <a:pPr algn="ctr" indent="0" marL="0">
              <a:buNone/>
            </a:pPr>
            <a:r>
              <a:rPr lang="en-US" sz="1400" dirty="0">
                <a:solidFill>
                  <a:schemeClr val="tx2"/>
                </a:solidFill>
              </a:rPr>
              <a:t>계획·대상 검증이 누락을 보정 → payments·cache 모두 조사</a:t>
            </a:r>
            <a:endParaRPr lang="en-US" sz="14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19</a:t>
            </a:fld>
            <a:endParaRPr lang="en-US"/>
          </a:p>
        </p:txBody>
      </p:sp>
      <p:sp>
        <p:nvSpPr>
          <p:cNvPr id="26" name="cap-ui-note"/>
          <p:cNvSpPr txBox="1"/>
          <p:nvPr/>
        </p:nvSpPr>
        <p:spPr>
          <a:xfrm>
            <a:off x="548640" y="6126480"/>
            <a:ext cx="11109960" cy="274320"/>
          </a:xfrm>
          <a:prstGeom prst="rect">
            <a:avLst/>
          </a:prstGeom>
          <a:noFill/>
          <a:ln/>
        </p:spPr>
        <p:txBody>
          <a:bodyPr wrap="square" lIns="0" tIns="0" rIns="0" bIns="0" rtlCol="0" anchor="t"/>
          <a:lstStyle/>
          <a:p>
            <a:pPr algn="ctr" indent="0" marL="0">
              <a:buNone/>
            </a:pPr>
            <a:r>
              <a:rPr lang="en-US" sz="1200" dirty="0">
                <a:solidFill>
                  <a:schemeClr val="tx2"/>
                </a:solidFill>
              </a:rPr>
              <a:t>UI는 개선 과정에서 변경됨 — 비교 대상은 화면이 아니라 조사 결과</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509760" cy="685800"/>
          </a:xfrm>
          <a:prstGeom prst="rect">
            <a:avLst/>
          </a:prstGeom>
          <a:noFill/>
          <a:ln/>
        </p:spPr>
        <p:txBody>
          <a:bodyPr wrap="square" lIns="0" tIns="0" rIns="0" bIns="0" rtlCol="0" anchor="ctr"/>
          <a:lstStyle/>
          <a:p>
            <a:pPr algn="l" indent="0" marL="0">
              <a:buNone/>
            </a:pPr>
            <a:r>
              <a:rPr lang="en-US" sz="2800" b="1" dirty="0">
                <a:solidFill>
                  <a:schemeClr val="tx1"/>
                </a:solidFill>
              </a:rPr>
              <a:t>한계와 트레이드오프</a:t>
            </a:r>
            <a:endParaRPr lang="en-US" sz="2800" dirty="0"/>
          </a:p>
        </p:txBody>
      </p:sp>
      <p:sp>
        <p:nvSpPr>
          <p:cNvPr id="3" name="frame-auth_unverified-348"/>
          <p:cNvSpPr/>
          <p:nvPr/>
        </p:nvSpPr>
        <p:spPr>
          <a:xfrm>
            <a:off x="512064" y="1655064"/>
            <a:ext cx="5193792" cy="3984752"/>
          </a:xfrm>
          <a:prstGeom prst="rect">
            <a:avLst/>
          </a:prstGeom>
          <a:solidFill>
            <a:schemeClr val="bg1"/>
          </a:solidFill>
          <a:ln w="9525">
            <a:solidFill>
              <a:srgbClr val="D5DBE3"/>
            </a:solidFill>
            <a:prstDash val="solid"/>
          </a:ln>
          <a:effectLst>
            <a:outerShdw sx="100000" sy="100000" kx="0" ky="0" algn="bl" rotWithShape="0" blurRad="101600" dist="25400" dir="5400000">
              <a:srgbClr val="14213D">
                <a:alpha val="18000"/>
              </a:srgbClr>
            </a:outerShdw>
          </a:effectLst>
        </p:spPr>
      </p:sp>
      <p:pic>
        <p:nvPicPr>
          <p:cNvPr id="4" name="shot-auth_unverified-349" descr="auth_unverified">    </p:cNvPr>
          <p:cNvPicPr>
            <a:picLocks noChangeAspect="1"/>
          </p:cNvPicPr>
          <p:nvPr/>
        </p:nvPicPr>
        <p:blipFill>
          <a:blip r:embed="rId1"/>
          <a:stretch>
            <a:fillRect/>
          </a:stretch>
        </p:blipFill>
        <p:spPr>
          <a:xfrm>
            <a:off x="548640" y="1691640"/>
            <a:ext cx="5120640" cy="3911600"/>
          </a:xfrm>
          <a:prstGeom prst="rect">
            <a:avLst/>
          </a:prstGeom>
        </p:spPr>
      </p:pic>
      <p:sp>
        <p:nvSpPr>
          <p:cNvPr id="5" name="tag-350"/>
          <p:cNvSpPr txBox="1"/>
          <p:nvPr/>
        </p:nvSpPr>
        <p:spPr>
          <a:xfrm>
            <a:off x="512064" y="1280160"/>
            <a:ext cx="2953512" cy="292608"/>
          </a:xfrm>
          <a:prstGeom prst="roundRect">
            <a:avLst>
              <a:gd name="adj" fmla="val 156250"/>
            </a:avLst>
          </a:prstGeom>
          <a:solidFill>
            <a:schemeClr val="accent3"/>
          </a:solidFill>
          <a:ln/>
        </p:spPr>
        <p:txBody>
          <a:bodyPr wrap="square" lIns="0" tIns="0" rIns="0" bIns="0" rtlCol="0" anchor="ctr"/>
          <a:lstStyle/>
          <a:p>
            <a:pPr algn="ctr" indent="0" marL="0">
              <a:buNone/>
            </a:pPr>
            <a:r>
              <a:rPr lang="en-US" sz="1200" b="1" dirty="0">
                <a:solidFill>
                  <a:schemeClr val="bg1"/>
                </a:solidFill>
              </a:rPr>
              <a:t>검증 미통과 · 실제 OpenAI</a:t>
            </a:r>
            <a:endParaRPr lang="en-US" sz="1200" dirty="0"/>
          </a:p>
        </p:txBody>
      </p:sp>
      <p:sp>
        <p:nvSpPr>
          <p:cNvPr id="6" name="cap-351"/>
          <p:cNvSpPr txBox="1"/>
          <p:nvPr/>
        </p:nvSpPr>
        <p:spPr>
          <a:xfrm>
            <a:off x="548640" y="5712968"/>
            <a:ext cx="5120640" cy="365760"/>
          </a:xfrm>
          <a:prstGeom prst="rect">
            <a:avLst/>
          </a:prstGeom>
          <a:noFill/>
          <a:ln/>
        </p:spPr>
        <p:txBody>
          <a:bodyPr wrap="square" lIns="0" tIns="0" rIns="0" bIns="0" rtlCol="0" anchor="t"/>
          <a:lstStyle/>
          <a:p>
            <a:pPr algn="ctr" indent="0" marL="0">
              <a:buNone/>
            </a:pPr>
            <a:r>
              <a:rPr lang="en-US" sz="1400" dirty="0">
                <a:solidFill>
                  <a:schemeClr val="tx2"/>
                </a:solidFill>
              </a:rPr>
              <a:t>auth 복합 증상: 매뉴얼 2종 조회했지만 CPU 조치 누락 → 차단</a:t>
            </a:r>
            <a:endParaRPr lang="en-US" sz="1400" dirty="0"/>
          </a:p>
        </p:txBody>
      </p:sp>
      <p:sp>
        <p:nvSpPr>
          <p:cNvPr id="7" name="txt-352"/>
          <p:cNvSpPr txBox="1"/>
          <p:nvPr/>
        </p:nvSpPr>
        <p:spPr>
          <a:xfrm>
            <a:off x="6035040" y="1280160"/>
            <a:ext cx="5577840" cy="365760"/>
          </a:xfrm>
          <a:prstGeom prst="rect">
            <a:avLst/>
          </a:prstGeom>
          <a:noFill/>
          <a:ln/>
        </p:spPr>
        <p:txBody>
          <a:bodyPr wrap="square" lIns="0" tIns="0" rIns="0" bIns="0" rtlCol="0" anchor="t"/>
          <a:lstStyle/>
          <a:p>
            <a:pPr indent="0" marL="0">
              <a:buNone/>
            </a:pPr>
            <a:r>
              <a:rPr lang="en-US" sz="1700" b="1" dirty="0">
                <a:solidFill>
                  <a:schemeClr val="accent3"/>
                </a:solidFill>
              </a:rPr>
              <a:t>안전 ≠ 완성</a:t>
            </a:r>
            <a:endParaRPr lang="en-US" sz="1700" dirty="0"/>
          </a:p>
        </p:txBody>
      </p:sp>
      <p:sp>
        <p:nvSpPr>
          <p:cNvPr id="8" name="txt-353"/>
          <p:cNvSpPr txBox="1"/>
          <p:nvPr/>
        </p:nvSpPr>
        <p:spPr>
          <a:xfrm>
            <a:off x="6035040" y="1664208"/>
            <a:ext cx="5577840" cy="457200"/>
          </a:xfrm>
          <a:prstGeom prst="rect">
            <a:avLst/>
          </a:prstGeom>
          <a:noFill/>
          <a:ln/>
        </p:spPr>
        <p:txBody>
          <a:bodyPr wrap="square" lIns="0" tIns="0" rIns="0" bIns="0" rtlCol="0" anchor="t"/>
          <a:lstStyle/>
          <a:p>
            <a:pPr indent="0" marL="0">
              <a:buNone/>
            </a:pPr>
            <a:r>
              <a:rPr lang="en-US" sz="1300" dirty="0">
                <a:solidFill>
                  <a:schemeClr val="tx2"/>
                </a:solidFill>
              </a:rPr>
              <a:t>검증기가 틀린 답을 막았지만 auth 복합 진단은 미완성 (실제 모델 3건 중 1건)</a:t>
            </a:r>
            <a:endParaRPr lang="en-US" sz="1300" dirty="0"/>
          </a:p>
        </p:txBody>
      </p:sp>
      <p:sp>
        <p:nvSpPr>
          <p:cNvPr id="9" name="txt-354"/>
          <p:cNvSpPr txBox="1"/>
          <p:nvPr/>
        </p:nvSpPr>
        <p:spPr>
          <a:xfrm>
            <a:off x="6035040" y="2240280"/>
            <a:ext cx="5577840" cy="365760"/>
          </a:xfrm>
          <a:prstGeom prst="rect">
            <a:avLst/>
          </a:prstGeom>
          <a:noFill/>
          <a:ln/>
        </p:spPr>
        <p:txBody>
          <a:bodyPr wrap="square" lIns="0" tIns="0" rIns="0" bIns="0" rtlCol="0" anchor="t"/>
          <a:lstStyle/>
          <a:p>
            <a:pPr indent="0" marL="0">
              <a:buNone/>
            </a:pPr>
            <a:r>
              <a:rPr lang="en-US" sz="1700" b="1" dirty="0">
                <a:solidFill>
                  <a:schemeClr val="tx1"/>
                </a:solidFill>
              </a:rPr>
              <a:t>정확성의 비용</a:t>
            </a:r>
            <a:endParaRPr lang="en-US" sz="1700" dirty="0"/>
          </a:p>
        </p:txBody>
      </p:sp>
      <p:sp>
        <p:nvSpPr>
          <p:cNvPr id="10" name="txt-355"/>
          <p:cNvSpPr txBox="1"/>
          <p:nvPr/>
        </p:nvSpPr>
        <p:spPr>
          <a:xfrm>
            <a:off x="6035040" y="2624328"/>
            <a:ext cx="5577840" cy="457200"/>
          </a:xfrm>
          <a:prstGeom prst="rect">
            <a:avLst/>
          </a:prstGeom>
          <a:noFill/>
          <a:ln/>
        </p:spPr>
        <p:txBody>
          <a:bodyPr wrap="square" lIns="0" tIns="0" rIns="0" bIns="0" rtlCol="0" anchor="t"/>
          <a:lstStyle/>
          <a:p>
            <a:pPr indent="0" marL="0">
              <a:buNone/>
            </a:pPr>
            <a:r>
              <a:rPr lang="en-US" sz="1300" dirty="0">
                <a:solidFill>
                  <a:schemeClr val="tx2"/>
                </a:solidFill>
              </a:rPr>
              <a:t>후속 질문 재조회로 2.11s → 3.39s · 재작성 시 모델 호출 증가</a:t>
            </a:r>
            <a:endParaRPr lang="en-US" sz="1300" dirty="0"/>
          </a:p>
        </p:txBody>
      </p:sp>
      <p:sp>
        <p:nvSpPr>
          <p:cNvPr id="11" name="txt-356"/>
          <p:cNvSpPr txBox="1"/>
          <p:nvPr/>
        </p:nvSpPr>
        <p:spPr>
          <a:xfrm>
            <a:off x="6035040" y="3200400"/>
            <a:ext cx="5577840" cy="365760"/>
          </a:xfrm>
          <a:prstGeom prst="rect">
            <a:avLst/>
          </a:prstGeom>
          <a:noFill/>
          <a:ln/>
        </p:spPr>
        <p:txBody>
          <a:bodyPr wrap="square" lIns="0" tIns="0" rIns="0" bIns="0" rtlCol="0" anchor="t"/>
          <a:lstStyle/>
          <a:p>
            <a:pPr indent="0" marL="0">
              <a:buNone/>
            </a:pPr>
            <a:r>
              <a:rPr lang="en-US" sz="1700" b="1" dirty="0">
                <a:solidFill>
                  <a:schemeClr val="tx1"/>
                </a:solidFill>
              </a:rPr>
              <a:t>RAG 미적용</a:t>
            </a:r>
            <a:endParaRPr lang="en-US" sz="1700" dirty="0"/>
          </a:p>
        </p:txBody>
      </p:sp>
      <p:sp>
        <p:nvSpPr>
          <p:cNvPr id="12" name="txt-357"/>
          <p:cNvSpPr txBox="1"/>
          <p:nvPr/>
        </p:nvSpPr>
        <p:spPr>
          <a:xfrm>
            <a:off x="6035040" y="3584448"/>
            <a:ext cx="5577840" cy="457200"/>
          </a:xfrm>
          <a:prstGeom prst="rect">
            <a:avLst/>
          </a:prstGeom>
          <a:noFill/>
          <a:ln/>
        </p:spPr>
        <p:txBody>
          <a:bodyPr wrap="square" lIns="0" tIns="0" rIns="0" bIns="0" rtlCol="0" anchor="t"/>
          <a:lstStyle/>
          <a:p>
            <a:pPr indent="0" marL="0">
              <a:buNone/>
            </a:pPr>
            <a:r>
              <a:rPr lang="en-US" sz="1300" dirty="0">
                <a:solidFill>
                  <a:schemeClr val="tx2"/>
                </a:solidFill>
              </a:rPr>
              <a:t>매뉴얼 6종 규칙 선택 → 새 표현·새 문서에 약함</a:t>
            </a:r>
            <a:endParaRPr lang="en-US" sz="1300" dirty="0"/>
          </a:p>
        </p:txBody>
      </p:sp>
      <p:sp>
        <p:nvSpPr>
          <p:cNvPr id="13" name="txt-358"/>
          <p:cNvSpPr txBox="1"/>
          <p:nvPr/>
        </p:nvSpPr>
        <p:spPr>
          <a:xfrm>
            <a:off x="6035040" y="4160520"/>
            <a:ext cx="5577840" cy="365760"/>
          </a:xfrm>
          <a:prstGeom prst="rect">
            <a:avLst/>
          </a:prstGeom>
          <a:noFill/>
          <a:ln/>
        </p:spPr>
        <p:txBody>
          <a:bodyPr wrap="square" lIns="0" tIns="0" rIns="0" bIns="0" rtlCol="0" anchor="t"/>
          <a:lstStyle/>
          <a:p>
            <a:pPr indent="0" marL="0">
              <a:buNone/>
            </a:pPr>
            <a:r>
              <a:rPr lang="en-US" sz="1700" b="1" dirty="0">
                <a:solidFill>
                  <a:schemeClr val="tx1"/>
                </a:solidFill>
              </a:rPr>
              <a:t>측정 범위</a:t>
            </a:r>
            <a:endParaRPr lang="en-US" sz="1700" dirty="0"/>
          </a:p>
        </p:txBody>
      </p:sp>
      <p:sp>
        <p:nvSpPr>
          <p:cNvPr id="14" name="txt-359"/>
          <p:cNvSpPr txBox="1"/>
          <p:nvPr/>
        </p:nvSpPr>
        <p:spPr>
          <a:xfrm>
            <a:off x="6035040" y="4544568"/>
            <a:ext cx="5577840" cy="457200"/>
          </a:xfrm>
          <a:prstGeom prst="rect">
            <a:avLst/>
          </a:prstGeom>
          <a:noFill/>
          <a:ln/>
        </p:spPr>
        <p:txBody>
          <a:bodyPr wrap="square" lIns="0" tIns="0" rIns="0" bIns="0" rtlCol="0" anchor="t"/>
          <a:lstStyle/>
          <a:p>
            <a:pPr indent="0" marL="0">
              <a:buNone/>
            </a:pPr>
            <a:r>
              <a:rPr lang="en-US" sz="1300" dirty="0">
                <a:solidFill>
                  <a:schemeClr val="tx2"/>
                </a:solidFill>
              </a:rPr>
              <a:t>샘플 데이터 · 각 1회 측정 · SQLite 단일 서버</a:t>
            </a:r>
            <a:endParaRPr lang="en-US" sz="1300" dirty="0"/>
          </a:p>
        </p:txBody>
      </p:sp>
      <p:sp>
        <p:nvSpPr>
          <p:cNvPr id="15" name="next-360"/>
          <p:cNvSpPr/>
          <p:nvPr/>
        </p:nvSpPr>
        <p:spPr>
          <a:xfrm>
            <a:off x="6035040" y="5257800"/>
            <a:ext cx="5623560" cy="868680"/>
          </a:xfrm>
          <a:prstGeom prst="roundRect">
            <a:avLst>
              <a:gd name="adj" fmla="val 8421"/>
            </a:avLst>
          </a:prstGeom>
          <a:solidFill>
            <a:schemeClr val="accent6"/>
          </a:solidFill>
          <a:ln/>
        </p:spPr>
      </p:sp>
      <p:sp>
        <p:nvSpPr>
          <p:cNvPr id="16" name="txt-361"/>
          <p:cNvSpPr txBox="1"/>
          <p:nvPr/>
        </p:nvSpPr>
        <p:spPr>
          <a:xfrm>
            <a:off x="6217920" y="5321808"/>
            <a:ext cx="1280160" cy="731520"/>
          </a:xfrm>
          <a:prstGeom prst="rect">
            <a:avLst/>
          </a:prstGeom>
          <a:noFill/>
          <a:ln/>
        </p:spPr>
        <p:txBody>
          <a:bodyPr wrap="square" lIns="0" tIns="0" rIns="0" bIns="0" rtlCol="0" anchor="ctr"/>
          <a:lstStyle/>
          <a:p>
            <a:pPr indent="0" marL="0">
              <a:buNone/>
            </a:pPr>
            <a:r>
              <a:rPr lang="en-US" sz="1400" b="1" dirty="0">
                <a:solidFill>
                  <a:schemeClr val="accent1"/>
                </a:solidFill>
              </a:rPr>
              <a:t>다음 보완</a:t>
            </a:r>
            <a:endParaRPr lang="en-US" sz="1400" dirty="0"/>
          </a:p>
        </p:txBody>
      </p:sp>
      <p:sp>
        <p:nvSpPr>
          <p:cNvPr id="17" name="txt-362"/>
          <p:cNvSpPr txBox="1"/>
          <p:nvPr/>
        </p:nvSpPr>
        <p:spPr>
          <a:xfrm>
            <a:off x="7498080" y="5321808"/>
            <a:ext cx="4069080" cy="731520"/>
          </a:xfrm>
          <a:prstGeom prst="rect">
            <a:avLst/>
          </a:prstGeom>
          <a:noFill/>
          <a:ln/>
        </p:spPr>
        <p:txBody>
          <a:bodyPr wrap="square" lIns="0" tIns="0" rIns="0" bIns="0" rtlCol="0" anchor="ctr"/>
          <a:lstStyle/>
          <a:p>
            <a:pPr indent="0" marL="0">
              <a:buNone/>
            </a:pPr>
            <a:r>
              <a:rPr lang="en-US" sz="1300" dirty="0">
                <a:solidFill>
                  <a:schemeClr val="tx1"/>
                </a:solidFill>
              </a:rPr>
              <a:t>필수 서비스·문서 쌍을 작성 입력에 명시 → 반복 측정</a:t>
            </a:r>
            <a:endParaRPr lang="en-US" sz="1300" dirty="0"/>
          </a:p>
          <a:p>
            <a:pPr indent="0" marL="0">
              <a:buNone/>
            </a:pPr>
            <a:r>
              <a:rPr lang="en-US" sz="1300" dirty="0">
                <a:solidFill>
                  <a:schemeClr val="tx1"/>
                </a:solidFill>
              </a:rPr>
              <a:t>임베딩 검색과 규칙 선택 비교</a:t>
            </a:r>
            <a:endParaRPr lang="en-US" sz="13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10515600" cy="914400"/>
          </a:xfrm>
          <a:prstGeom prst="rect">
            <a:avLst/>
          </a:prstGeom>
          <a:noFill/>
          <a:ln/>
        </p:spPr>
        <p:txBody>
          <a:bodyPr wrap="square" lIns="0" tIns="0" rIns="0" bIns="0" rtlCol="0" anchor="ctr"/>
          <a:lstStyle/>
          <a:p>
            <a:pPr indent="0" marL="0" algn="ctr">
              <a:buNone/>
            </a:pPr>
            <a:r>
              <a:rPr lang="en-US" sz="4000" b="1" dirty="0">
                <a:solidFill>
                  <a:schemeClr val="bg1"/>
                </a:solidFill>
              </a:rPr>
              <a:t>감사합니다</a:t>
            </a:r>
            <a:endParaRPr lang="en-US" sz="4000" dirty="0"/>
          </a:p>
        </p:txBody>
      </p:sp>
      <p:sp>
        <p:nvSpPr>
          <p:cNvPr id="3" name="Text 0"/>
          <p:cNvSpPr/>
          <p:nvPr>
            <p:ph idx="101" type="body" hasCustomPrompt="1"/>
          </p:nvPr>
        </p:nvSpPr>
        <p:spPr>
          <a:xfrm>
            <a:off x="822960" y="3657600"/>
            <a:ext cx="10515600" cy="548640"/>
          </a:xfrm>
          <a:prstGeom prst="rect">
            <a:avLst/>
          </a:prstGeom>
          <a:noFill/>
          <a:ln/>
        </p:spPr>
        <p:txBody>
          <a:bodyPr wrap="square" lIns="0" tIns="0" rIns="0" bIns="0" rtlCol="0" anchor="t"/>
          <a:lstStyle/>
          <a:p>
            <a:pPr indent="0" marL="0" algn="ctr">
              <a:buNone/>
            </a:pPr>
            <a:r>
              <a:rPr lang="en-US" sz="1800" dirty="0">
                <a:solidFill>
                  <a:srgbClr val="CADCF5"/>
                </a:solidFill>
              </a:rPr>
              <a:t>OpsCheck · github.com/hyeonminee/opscheck</a:t>
            </a:r>
            <a:endParaRPr lang="en-US" sz="18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A0C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psCheck">
  <a:themeElements>
    <a:clrScheme name="OpsCheck">
      <a:dk1>
        <a:srgbClr val="14213D"/>
      </a:dk1>
      <a:lt1>
        <a:srgbClr val="FFFFFF"/>
      </a:lt1>
      <a:dk2>
        <a:srgbClr val="4A5568"/>
      </a:dk2>
      <a:lt2>
        <a:srgbClr val="F1F4F8"/>
      </a:lt2>
      <a:accent1>
        <a:srgbClr val="0E8C7F"/>
      </a:accent1>
      <a:accent2>
        <a:srgbClr val="E39B2D"/>
      </a:accent2>
      <a:accent3>
        <a:srgbClr val="D9483B"/>
      </a:accent3>
      <a:accent4>
        <a:srgbClr val="2F5BD3"/>
      </a:accent4>
      <a:accent5>
        <a:srgbClr val="8A94A6"/>
      </a:accent5>
      <a:accent6>
        <a:srgbClr val="DCEFEC"/>
      </a:accent6>
      <a:hlink>
        <a:srgbClr val="2F5BD3"/>
      </a:hlink>
      <a:folHlink>
        <a:srgbClr val="6B4FBB"/>
      </a:folHlink>
    </a:clrScheme>
    <a:fontScheme name="OpsCheck">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OpsCheck AI Mini-Project 최종 발표</dc:title>
  <dc:subject>PptxGenJS Presentation</dc:subject>
  <dc:creator>박현민</dc:creator>
  <cp:lastModifiedBy>박현민</cp:lastModifiedBy>
  <cp:revision>1</cp:revision>
  <dcterms:created xsi:type="dcterms:W3CDTF">2026-10-22T04:58:41Z</dcterms:created>
  <dcterms:modified xsi:type="dcterms:W3CDTF">2026-10-22T04:58:41Z</dcterms:modified>
</cp:coreProperties>
</file>